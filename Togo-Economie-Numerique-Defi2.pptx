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ogo-econum-finance-defi2-5d98fee2ba7c.herokuapp.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ogo-econum-finance-defi2-5d98fee2ba7c.herokuapp.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65760"/>
            <a:ext cx="859536" cy="859536"/>
          </a:xfrm>
          <a:prstGeom prst="roundRect">
            <a:avLst>
              <a:gd name="adj" fmla="val 12765"/>
            </a:avLst>
          </a:prstGeom>
          <a:solidFill>
            <a:srgbClr val="FFFFFF"/>
          </a:solidFill>
          <a:ln w="9525">
            <a:solidFill>
              <a:srgbClr val="FFC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moiries.png"/>
          <p:cNvPicPr>
            <a:picLocks noChangeAspect="1"/>
          </p:cNvPicPr>
          <p:nvPr/>
        </p:nvPicPr>
        <p:blipFill>
          <a:blip r:embed="rId2"/>
          <a:stretch>
            <a:fillRect/>
          </a:stretch>
        </p:blipFill>
        <p:spPr>
          <a:xfrm>
            <a:off x="585216" y="490349"/>
            <a:ext cx="694944" cy="610356"/>
          </a:xfrm>
          <a:prstGeom prst="rect">
            <a:avLst/>
          </a:prstGeom>
        </p:spPr>
      </p:pic>
      <p:sp>
        <p:nvSpPr>
          <p:cNvPr id="5" name="TextBox 4"/>
          <p:cNvSpPr txBox="1"/>
          <p:nvPr/>
        </p:nvSpPr>
        <p:spPr>
          <a:xfrm>
            <a:off x="1545336" y="420624"/>
            <a:ext cx="5486400" cy="749808"/>
          </a:xfrm>
          <a:prstGeom prst="rect">
            <a:avLst/>
          </a:prstGeom>
          <a:noFill/>
        </p:spPr>
        <p:txBody>
          <a:bodyPr wrap="square" anchor="ctr" lIns="0" rIns="0" tIns="0" bIns="0">
            <a:noAutofit/>
          </a:bodyPr>
          <a:lstStyle/>
          <a:p>
            <a:pPr algn="l">
              <a:lnSpc>
                <a:spcPct val="100000"/>
              </a:lnSpc>
              <a:spcBef>
                <a:spcPts val="0"/>
              </a:spcBef>
              <a:spcAft>
                <a:spcPts val="0"/>
              </a:spcAft>
            </a:pPr>
            <a:r>
              <a:rPr sz="1050" b="1" i="0">
                <a:solidFill>
                  <a:srgbClr val="FFFFFF"/>
                </a:solidFill>
                <a:latin typeface="Calibri"/>
              </a:rPr>
              <a:t>MINISTÈRE DE L’EFFICACITÉ DU SERVICE PUBLIC</a:t>
            </a:r>
          </a:p>
          <a:p>
            <a:pPr algn="l">
              <a:lnSpc>
                <a:spcPct val="100000"/>
              </a:lnSpc>
              <a:spcBef>
                <a:spcPts val="200"/>
              </a:spcBef>
              <a:spcAft>
                <a:spcPts val="0"/>
              </a:spcAft>
            </a:pPr>
            <a:r>
              <a:rPr sz="1050" b="1" i="0">
                <a:solidFill>
                  <a:srgbClr val="FFFFFF"/>
                </a:solidFill>
                <a:latin typeface="Calibri"/>
              </a:rPr>
              <a:t>ET DE LA TRANSFORMATION NUMÉRIQUE</a:t>
            </a:r>
          </a:p>
        </p:txBody>
      </p:sp>
      <p:sp>
        <p:nvSpPr>
          <p:cNvPr id="6" name="TextBox 5"/>
          <p:cNvSpPr txBox="1"/>
          <p:nvPr/>
        </p:nvSpPr>
        <p:spPr>
          <a:xfrm>
            <a:off x="6675120" y="457200"/>
            <a:ext cx="5013655" cy="365760"/>
          </a:xfrm>
          <a:prstGeom prst="rect">
            <a:avLst/>
          </a:prstGeom>
          <a:noFill/>
        </p:spPr>
        <p:txBody>
          <a:bodyPr wrap="square" anchor="t" lIns="0" rIns="0" tIns="0" bIns="0">
            <a:noAutofit/>
          </a:bodyPr>
          <a:lstStyle/>
          <a:p>
            <a:pPr algn="r">
              <a:lnSpc>
                <a:spcPct val="100000"/>
              </a:lnSpc>
              <a:spcBef>
                <a:spcPts val="0"/>
              </a:spcBef>
              <a:spcAft>
                <a:spcPts val="0"/>
              </a:spcAft>
            </a:pPr>
            <a:r>
              <a:rPr sz="1900" b="1" i="0">
                <a:solidFill>
                  <a:srgbClr val="FCE588"/>
                </a:solidFill>
                <a:latin typeface="Cambria"/>
              </a:rPr>
              <a:t>Togo Digital &amp; Financial Inclusion</a:t>
            </a:r>
          </a:p>
        </p:txBody>
      </p:sp>
      <p:sp>
        <p:nvSpPr>
          <p:cNvPr id="7" name="TextBox 6"/>
          <p:cNvSpPr txBox="1"/>
          <p:nvPr/>
        </p:nvSpPr>
        <p:spPr>
          <a:xfrm>
            <a:off x="6675120" y="859536"/>
            <a:ext cx="5013655" cy="256032"/>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DE2FB"/>
                </a:solidFill>
                <a:latin typeface="Calibri"/>
              </a:rPr>
              <a:t>Rapport de synthèse · Économie numérique — Défi 2</a:t>
            </a:r>
          </a:p>
        </p:txBody>
      </p:sp>
      <p:sp>
        <p:nvSpPr>
          <p:cNvPr id="8" name="TextBox 7"/>
          <p:cNvSpPr txBox="1"/>
          <p:nvPr/>
        </p:nvSpPr>
        <p:spPr>
          <a:xfrm>
            <a:off x="502920" y="1517904"/>
            <a:ext cx="11185855" cy="566928"/>
          </a:xfrm>
          <a:prstGeom prst="rect">
            <a:avLst/>
          </a:prstGeom>
          <a:noFill/>
        </p:spPr>
        <p:txBody>
          <a:bodyPr wrap="square" anchor="t" lIns="0" rIns="0" tIns="0" bIns="0">
            <a:noAutofit/>
          </a:bodyPr>
          <a:lstStyle/>
          <a:p>
            <a:pPr algn="l">
              <a:lnSpc>
                <a:spcPct val="100000"/>
              </a:lnSpc>
              <a:spcBef>
                <a:spcPts val="0"/>
              </a:spcBef>
              <a:spcAft>
                <a:spcPts val="0"/>
              </a:spcAft>
            </a:pPr>
            <a:r>
              <a:rPr sz="3400" b="1" i="0">
                <a:solidFill>
                  <a:srgbClr val="FFFFFF"/>
                </a:solidFill>
                <a:latin typeface="Cambria"/>
              </a:rPr>
              <a:t>Numérique et inclusion financière au Togo</a:t>
            </a:r>
          </a:p>
        </p:txBody>
      </p:sp>
      <p:sp>
        <p:nvSpPr>
          <p:cNvPr id="9" name="TextBox 8"/>
          <p:cNvSpPr txBox="1"/>
          <p:nvPr/>
        </p:nvSpPr>
        <p:spPr>
          <a:xfrm>
            <a:off x="502920" y="2103120"/>
            <a:ext cx="11185855" cy="310896"/>
          </a:xfrm>
          <a:prstGeom prst="rect">
            <a:avLst/>
          </a:prstGeom>
          <a:noFill/>
        </p:spPr>
        <p:txBody>
          <a:bodyPr wrap="square" anchor="t" lIns="0" rIns="0" tIns="0" bIns="0">
            <a:noAutofit/>
          </a:bodyPr>
          <a:lstStyle/>
          <a:p>
            <a:pPr algn="l">
              <a:lnSpc>
                <a:spcPct val="100000"/>
              </a:lnSpc>
              <a:spcBef>
                <a:spcPts val="0"/>
              </a:spcBef>
              <a:spcAft>
                <a:spcPts val="0"/>
              </a:spcAft>
            </a:pPr>
            <a:r>
              <a:rPr sz="1500" b="0" i="0">
                <a:solidFill>
                  <a:srgbClr val="CDE2FB"/>
                </a:solidFill>
                <a:latin typeface="Calibri"/>
              </a:rPr>
              <a:t>Où agir en priorité pour accélérer l’usage d’Internet et étendre l’accès aux services financiers numériques ?</a:t>
            </a:r>
          </a:p>
        </p:txBody>
      </p:sp>
      <p:sp>
        <p:nvSpPr>
          <p:cNvPr id="10" name="Rounded Rectangle 9"/>
          <p:cNvSpPr/>
          <p:nvPr/>
        </p:nvSpPr>
        <p:spPr>
          <a:xfrm>
            <a:off x="502920" y="2615184"/>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086293" y="2734056"/>
            <a:ext cx="897622"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Sous le seuil</a:t>
            </a:r>
          </a:p>
        </p:txBody>
      </p:sp>
      <p:sp>
        <p:nvSpPr>
          <p:cNvPr id="12" name="TextBox 11"/>
          <p:cNvSpPr txBox="1"/>
          <p:nvPr/>
        </p:nvSpPr>
        <p:spPr>
          <a:xfrm>
            <a:off x="667512" y="2752344"/>
            <a:ext cx="134562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INTERNET (2024)</a:t>
            </a:r>
          </a:p>
        </p:txBody>
      </p:sp>
      <p:sp>
        <p:nvSpPr>
          <p:cNvPr id="13" name="TextBox 12"/>
          <p:cNvSpPr txBox="1"/>
          <p:nvPr/>
        </p:nvSpPr>
        <p:spPr>
          <a:xfrm>
            <a:off x="667512" y="2980944"/>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39,5 %</a:t>
            </a:r>
          </a:p>
        </p:txBody>
      </p:sp>
      <p:sp>
        <p:nvSpPr>
          <p:cNvPr id="14" name="TextBox 13"/>
          <p:cNvSpPr txBox="1"/>
          <p:nvPr/>
        </p:nvSpPr>
        <p:spPr>
          <a:xfrm>
            <a:off x="667512" y="3419856"/>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 la population utilise Internet</a:t>
            </a:r>
          </a:p>
        </p:txBody>
      </p:sp>
      <p:sp>
        <p:nvSpPr>
          <p:cNvPr id="15" name="TextBox 14"/>
          <p:cNvSpPr txBox="1"/>
          <p:nvPr/>
        </p:nvSpPr>
        <p:spPr>
          <a:xfrm>
            <a:off x="667512" y="3643883"/>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seuil de 40 % ; × 3,2 depuis 2017</a:t>
            </a:r>
          </a:p>
        </p:txBody>
      </p:sp>
      <p:sp>
        <p:nvSpPr>
          <p:cNvPr id="16" name="Rounded Rectangle 15"/>
          <p:cNvSpPr/>
          <p:nvPr/>
        </p:nvSpPr>
        <p:spPr>
          <a:xfrm>
            <a:off x="3349675" y="2615184"/>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37277" y="2734056"/>
            <a:ext cx="993394"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Non abordable</a:t>
            </a:r>
          </a:p>
        </p:txBody>
      </p:sp>
      <p:sp>
        <p:nvSpPr>
          <p:cNvPr id="18" name="TextBox 17"/>
          <p:cNvSpPr txBox="1"/>
          <p:nvPr/>
        </p:nvSpPr>
        <p:spPr>
          <a:xfrm>
            <a:off x="3514267" y="2752344"/>
            <a:ext cx="1249857"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PRIX DE LA DATA</a:t>
            </a:r>
          </a:p>
        </p:txBody>
      </p:sp>
      <p:sp>
        <p:nvSpPr>
          <p:cNvPr id="19" name="TextBox 18"/>
          <p:cNvSpPr txBox="1"/>
          <p:nvPr/>
        </p:nvSpPr>
        <p:spPr>
          <a:xfrm>
            <a:off x="3514267" y="2980944"/>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5,30 %</a:t>
            </a:r>
          </a:p>
        </p:txBody>
      </p:sp>
      <p:sp>
        <p:nvSpPr>
          <p:cNvPr id="20" name="TextBox 19"/>
          <p:cNvSpPr txBox="1"/>
          <p:nvPr/>
        </p:nvSpPr>
        <p:spPr>
          <a:xfrm>
            <a:off x="3514267" y="3419856"/>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du revenu mensuel pour 1 Go</a:t>
            </a:r>
          </a:p>
        </p:txBody>
      </p:sp>
      <p:sp>
        <p:nvSpPr>
          <p:cNvPr id="21" name="TextBox 20"/>
          <p:cNvSpPr txBox="1"/>
          <p:nvPr/>
        </p:nvSpPr>
        <p:spPr>
          <a:xfrm>
            <a:off x="3514267" y="3643883"/>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en 2025 ; seuil d’accessibilité : 2 %</a:t>
            </a:r>
          </a:p>
        </p:txBody>
      </p:sp>
      <p:sp>
        <p:nvSpPr>
          <p:cNvPr id="22" name="Rounded Rectangle 21"/>
          <p:cNvSpPr/>
          <p:nvPr/>
        </p:nvSpPr>
        <p:spPr>
          <a:xfrm>
            <a:off x="6196431" y="2615184"/>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623885" y="2734056"/>
            <a:ext cx="1053542" cy="201168"/>
          </a:xfrm>
          <a:prstGeom prst="roundRect">
            <a:avLst>
              <a:gd name="adj" fmla="val 50000"/>
            </a:avLst>
          </a:prstGeom>
          <a:solidFill>
            <a:srgbClr val="FBE3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8A1C1B"/>
                </a:solidFill>
                <a:latin typeface="Calibri"/>
              </a:rPr>
              <a:t>Priorité absolue</a:t>
            </a:r>
          </a:p>
        </p:txBody>
      </p:sp>
      <p:sp>
        <p:nvSpPr>
          <p:cNvPr id="24" name="TextBox 23"/>
          <p:cNvSpPr txBox="1"/>
          <p:nvPr/>
        </p:nvSpPr>
        <p:spPr>
          <a:xfrm>
            <a:off x="6361023" y="2752344"/>
            <a:ext cx="118970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ACCÈS FINANCIER</a:t>
            </a:r>
          </a:p>
        </p:txBody>
      </p:sp>
      <p:sp>
        <p:nvSpPr>
          <p:cNvPr id="25" name="TextBox 24"/>
          <p:cNvSpPr txBox="1"/>
          <p:nvPr/>
        </p:nvSpPr>
        <p:spPr>
          <a:xfrm>
            <a:off x="6361023" y="2980944"/>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8A1C1B"/>
                </a:solidFill>
                <a:latin typeface="Cambria"/>
              </a:rPr>
              <a:t>22</a:t>
            </a:r>
            <a:r>
              <a:rPr sz="1200" b="1" i="0">
                <a:solidFill>
                  <a:srgbClr val="8A1C1B"/>
                </a:solidFill>
                <a:latin typeface="Calibri"/>
              </a:rPr>
              <a:t> communes</a:t>
            </a:r>
          </a:p>
        </p:txBody>
      </p:sp>
      <p:sp>
        <p:nvSpPr>
          <p:cNvPr id="26" name="TextBox 25"/>
          <p:cNvSpPr txBox="1"/>
          <p:nvPr/>
        </p:nvSpPr>
        <p:spPr>
          <a:xfrm>
            <a:off x="6361023" y="3419856"/>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sans aucune agence financière</a:t>
            </a:r>
          </a:p>
        </p:txBody>
      </p:sp>
      <p:sp>
        <p:nvSpPr>
          <p:cNvPr id="27" name="TextBox 26"/>
          <p:cNvSpPr txBox="1"/>
          <p:nvPr/>
        </p:nvSpPr>
        <p:spPr>
          <a:xfrm>
            <a:off x="6361023" y="3643883"/>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759 599 habitants ; le mobile money y est seul</a:t>
            </a:r>
          </a:p>
        </p:txBody>
      </p:sp>
      <p:sp>
        <p:nvSpPr>
          <p:cNvPr id="28" name="Rounded Rectangle 27"/>
          <p:cNvSpPr/>
          <p:nvPr/>
        </p:nvSpPr>
        <p:spPr>
          <a:xfrm>
            <a:off x="9043187" y="2615184"/>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590650" y="2734056"/>
            <a:ext cx="933532" cy="201168"/>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0D366B"/>
                </a:solidFill>
                <a:latin typeface="Calibri"/>
              </a:rPr>
              <a:t>Priorité haute</a:t>
            </a:r>
          </a:p>
        </p:txBody>
      </p:sp>
      <p:sp>
        <p:nvSpPr>
          <p:cNvPr id="30" name="TextBox 29"/>
          <p:cNvSpPr txBox="1"/>
          <p:nvPr/>
        </p:nvSpPr>
        <p:spPr>
          <a:xfrm>
            <a:off x="9207779" y="2752344"/>
            <a:ext cx="130971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TERRITOIRES</a:t>
            </a:r>
          </a:p>
        </p:txBody>
      </p:sp>
      <p:sp>
        <p:nvSpPr>
          <p:cNvPr id="31" name="TextBox 30"/>
          <p:cNvSpPr txBox="1"/>
          <p:nvPr/>
        </p:nvSpPr>
        <p:spPr>
          <a:xfrm>
            <a:off x="9207779" y="2980944"/>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0D366B"/>
                </a:solidFill>
                <a:latin typeface="Cambria"/>
              </a:rPr>
              <a:t>7</a:t>
            </a:r>
            <a:r>
              <a:rPr sz="1200" b="1" i="0">
                <a:solidFill>
                  <a:srgbClr val="0D366B"/>
                </a:solidFill>
                <a:latin typeface="Calibri"/>
              </a:rPr>
              <a:t> préfectures</a:t>
            </a:r>
          </a:p>
        </p:txBody>
      </p:sp>
      <p:sp>
        <p:nvSpPr>
          <p:cNvPr id="32" name="TextBox 31"/>
          <p:cNvSpPr txBox="1"/>
          <p:nvPr/>
        </p:nvSpPr>
        <p:spPr>
          <a:xfrm>
            <a:off x="9207779" y="3419856"/>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en priorité haute</a:t>
            </a:r>
          </a:p>
        </p:txBody>
      </p:sp>
      <p:sp>
        <p:nvSpPr>
          <p:cNvPr id="33" name="TextBox 32"/>
          <p:cNvSpPr txBox="1"/>
          <p:nvPr/>
        </p:nvSpPr>
        <p:spPr>
          <a:xfrm>
            <a:off x="9207779" y="3643883"/>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989 617 habitants, toutes hors du Maritime et du Grand Lomé</a:t>
            </a:r>
          </a:p>
        </p:txBody>
      </p:sp>
      <p:sp>
        <p:nvSpPr>
          <p:cNvPr id="34" name="Rounded Rectangle 33"/>
          <p:cNvSpPr/>
          <p:nvPr/>
        </p:nvSpPr>
        <p:spPr>
          <a:xfrm>
            <a:off x="502920" y="4261104"/>
            <a:ext cx="11185855" cy="566928"/>
          </a:xfrm>
          <a:prstGeom prst="roundRect">
            <a:avLst>
              <a:gd name="adj" fmla="val 16129"/>
            </a:avLst>
          </a:prstGeom>
          <a:solidFill>
            <a:srgbClr val="E8F0FB"/>
          </a:solidFill>
          <a:ln w="9525">
            <a:solidFill>
              <a:srgbClr val="C7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 y="4315968"/>
            <a:ext cx="10710367" cy="457200"/>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0D366B"/>
                </a:solidFill>
                <a:latin typeface="Calibri"/>
              </a:rPr>
              <a:t>CONSTAT  ·  </a:t>
            </a:r>
            <a:r>
              <a:rPr sz="1150" b="0" i="0">
                <a:solidFill>
                  <a:srgbClr val="141413"/>
                </a:solidFill>
                <a:latin typeface="Calibri"/>
              </a:rPr>
              <a:t>Le mobile money est déjà présent dans les 117 communes ; l’agence financière manque dans 22, la couverture réseau reste à mesurer et la data est chère. Le déficit est rural et se situe hors du Maritime.</a:t>
            </a:r>
          </a:p>
        </p:txBody>
      </p:sp>
      <p:sp>
        <p:nvSpPr>
          <p:cNvPr id="36" name="Rounded Rectangle 35"/>
          <p:cNvSpPr/>
          <p:nvPr/>
        </p:nvSpPr>
        <p:spPr>
          <a:xfrm>
            <a:off x="502920" y="4937760"/>
            <a:ext cx="11185855" cy="566928"/>
          </a:xfrm>
          <a:prstGeom prst="roundRect">
            <a:avLst>
              <a:gd name="adj" fmla="val 16129"/>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0664" y="4992624"/>
            <a:ext cx="10710367" cy="457200"/>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6B4700"/>
                </a:solidFill>
                <a:latin typeface="Calibri"/>
              </a:rPr>
              <a:t>DANS L’ANNÉE  ·  </a:t>
            </a:r>
            <a:r>
              <a:rPr sz="1150" b="0" i="0">
                <a:solidFill>
                  <a:srgbClr val="141413"/>
                </a:solidFill>
                <a:latin typeface="Calibri"/>
              </a:rPr>
              <a:t>une première agence financière dans les 22 communes où le mobile money est seul, et la mesure de la couverture réelle dans les 14 communes où elle est inconnue ou douteuse.</a:t>
            </a:r>
          </a:p>
        </p:txBody>
      </p:sp>
      <p:sp>
        <p:nvSpPr>
          <p:cNvPr id="38" name="TextBox 37"/>
          <p:cNvSpPr txBox="1"/>
          <p:nvPr/>
        </p:nvSpPr>
        <p:spPr>
          <a:xfrm>
            <a:off x="502920" y="5705856"/>
            <a:ext cx="41148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FCE588"/>
                </a:solidFill>
                <a:latin typeface="Calibri"/>
              </a:rPr>
              <a:t>PRÉSENTÉ PAR</a:t>
            </a:r>
          </a:p>
        </p:txBody>
      </p:sp>
      <p:sp>
        <p:nvSpPr>
          <p:cNvPr id="39" name="TextBox 38"/>
          <p:cNvSpPr txBox="1"/>
          <p:nvPr/>
        </p:nvSpPr>
        <p:spPr>
          <a:xfrm>
            <a:off x="502920" y="5925312"/>
            <a:ext cx="41148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FFFFFF"/>
                </a:solidFill>
                <a:latin typeface="Calibri"/>
              </a:rPr>
              <a:t>Edmund</a:t>
            </a:r>
          </a:p>
        </p:txBody>
      </p:sp>
      <p:sp>
        <p:nvSpPr>
          <p:cNvPr id="40" name="TextBox 39"/>
          <p:cNvSpPr txBox="1"/>
          <p:nvPr/>
        </p:nvSpPr>
        <p:spPr>
          <a:xfrm>
            <a:off x="4754880" y="5705856"/>
            <a:ext cx="693389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FCE588"/>
                </a:solidFill>
                <a:latin typeface="Calibri"/>
              </a:rPr>
              <a:t>TABLEAU DE BORD INTERACTIF</a:t>
            </a:r>
          </a:p>
        </p:txBody>
      </p:sp>
      <p:sp>
        <p:nvSpPr>
          <p:cNvPr id="41" name="TextBox 40"/>
          <p:cNvSpPr txBox="1"/>
          <p:nvPr/>
        </p:nvSpPr>
        <p:spPr>
          <a:xfrm>
            <a:off x="4754880" y="5943600"/>
            <a:ext cx="6933895" cy="256032"/>
          </a:xfrm>
          <a:prstGeom prst="rect">
            <a:avLst/>
          </a:prstGeom>
          <a:noFill/>
        </p:spPr>
        <p:txBody>
          <a:bodyPr wrap="none" lIns="0" rIns="0" tIns="0" bIns="0">
            <a:spAutoFit/>
          </a:bodyPr>
          <a:lstStyle/>
          <a:p>
            <a:r>
              <a:rPr sz="1200" b="1" i="0" u="sng">
                <a:solidFill>
                  <a:srgbClr val="CDE2FB"/>
                </a:solidFill>
                <a:latin typeface="Calibri"/>
                <a:hlinkClick r:id="rId3"/>
              </a:rPr>
              <a:t>https://togo-econum-finance-defi2-5d98fee2ba7c.herokuapp.com</a:t>
            </a:r>
          </a:p>
        </p:txBody>
      </p:sp>
      <p:sp>
        <p:nvSpPr>
          <p:cNvPr id="42" name="TextBox 41"/>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9FB2C6"/>
                </a:solidFill>
                <a:latin typeface="Calibri"/>
              </a:rPr>
              <a:t>Togo AI Lab — Data Challenge | Économie numérique — Défi 2</a:t>
            </a:r>
          </a:p>
        </p:txBody>
      </p:sp>
      <p:sp>
        <p:nvSpPr>
          <p:cNvPr id="43" name="TextBox 42"/>
          <p:cNvSpPr txBox="1"/>
          <p:nvPr/>
        </p:nvSpPr>
        <p:spPr>
          <a:xfrm>
            <a:off x="8945575" y="6446520"/>
            <a:ext cx="274320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9FB2C6"/>
                </a:solidFill>
                <a:latin typeface="Calibri"/>
              </a:rPr>
              <a:t>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01 · CADRAGE ET MÉTHODE</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2</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Comment ces résultats ont-ils été produits ?</a:t>
            </a:r>
          </a:p>
        </p:txBody>
      </p:sp>
      <p:sp>
        <p:nvSpPr>
          <p:cNvPr id="8" name="Rounded Rectangle 7"/>
          <p:cNvSpPr/>
          <p:nvPr/>
        </p:nvSpPr>
        <p:spPr>
          <a:xfrm>
            <a:off x="502920" y="1463040"/>
            <a:ext cx="11185855" cy="548640"/>
          </a:xfrm>
          <a:prstGeom prst="roundRect">
            <a:avLst>
              <a:gd name="adj" fmla="val 16666"/>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517904"/>
            <a:ext cx="10710367" cy="438912"/>
          </a:xfrm>
          <a:prstGeom prst="rect">
            <a:avLst/>
          </a:prstGeom>
          <a:noFill/>
        </p:spPr>
        <p:txBody>
          <a:bodyPr wrap="square" anchor="ctr" lIns="0" rIns="0" tIns="0" bIns="0">
            <a:noAutofit/>
          </a:bodyPr>
          <a:lstStyle/>
          <a:p>
            <a:pPr algn="l">
              <a:lnSpc>
                <a:spcPct val="105000"/>
              </a:lnSpc>
              <a:spcBef>
                <a:spcPts val="0"/>
              </a:spcBef>
              <a:spcAft>
                <a:spcPts val="0"/>
              </a:spcAft>
            </a:pPr>
            <a:r>
              <a:rPr sz="1150" b="1" i="0">
                <a:solidFill>
                  <a:srgbClr val="FCE588"/>
                </a:solidFill>
                <a:latin typeface="Calibri"/>
              </a:rPr>
              <a:t>QUESTION PUBLIQUE  ·  </a:t>
            </a:r>
            <a:r>
              <a:rPr sz="1250" b="1" i="0">
                <a:solidFill>
                  <a:srgbClr val="FFFFFF"/>
                </a:solidFill>
                <a:latin typeface="Calibri"/>
              </a:rPr>
              <a:t>Où agir en priorité pour accélérer l’usage d’Internet et étendre l’accès aux services financiers numériques ?</a:t>
            </a:r>
          </a:p>
        </p:txBody>
      </p:sp>
      <p:sp>
        <p:nvSpPr>
          <p:cNvPr id="10" name="TextBox 9"/>
          <p:cNvSpPr txBox="1"/>
          <p:nvPr/>
        </p:nvSpPr>
        <p:spPr>
          <a:xfrm>
            <a:off x="502920" y="2194560"/>
            <a:ext cx="1118585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LA CHAÎNE DE TRAITEMENT</a:t>
            </a:r>
          </a:p>
        </p:txBody>
      </p:sp>
      <p:sp>
        <p:nvSpPr>
          <p:cNvPr id="11" name="Rounded Rectangle 10"/>
          <p:cNvSpPr/>
          <p:nvPr/>
        </p:nvSpPr>
        <p:spPr>
          <a:xfrm>
            <a:off x="502920" y="2468880"/>
            <a:ext cx="2549575" cy="969264"/>
          </a:xfrm>
          <a:prstGeom prst="roundRect">
            <a:avLst>
              <a:gd name="adj" fmla="val 1132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7512" y="2615184"/>
            <a:ext cx="310896" cy="31089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mbria"/>
              </a:rPr>
              <a:t>1</a:t>
            </a:r>
          </a:p>
        </p:txBody>
      </p:sp>
      <p:sp>
        <p:nvSpPr>
          <p:cNvPr id="13" name="TextBox 12"/>
          <p:cNvSpPr txBox="1"/>
          <p:nvPr/>
        </p:nvSpPr>
        <p:spPr>
          <a:xfrm>
            <a:off x="1069848" y="2587752"/>
            <a:ext cx="1836343" cy="365760"/>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0D366B"/>
                </a:solidFill>
                <a:latin typeface="Cambria"/>
              </a:rPr>
              <a:t>Données publiques</a:t>
            </a:r>
          </a:p>
        </p:txBody>
      </p:sp>
      <p:sp>
        <p:nvSpPr>
          <p:cNvPr id="14" name="TextBox 13"/>
          <p:cNvSpPr txBox="1"/>
          <p:nvPr/>
        </p:nvSpPr>
        <p:spPr>
          <a:xfrm>
            <a:off x="667512" y="2980944"/>
            <a:ext cx="2220391" cy="402336"/>
          </a:xfrm>
          <a:prstGeom prst="rect">
            <a:avLst/>
          </a:prstGeom>
          <a:noFill/>
        </p:spPr>
        <p:txBody>
          <a:bodyPr wrap="square" anchor="t" lIns="0" rIns="0" tIns="0" bIns="0">
            <a:noAutofit/>
          </a:bodyPr>
          <a:lstStyle/>
          <a:p>
            <a:pPr algn="l">
              <a:lnSpc>
                <a:spcPct val="105000"/>
              </a:lnSpc>
              <a:spcBef>
                <a:spcPts val="0"/>
              </a:spcBef>
              <a:spcAft>
                <a:spcPts val="0"/>
              </a:spcAft>
            </a:pPr>
            <a:r>
              <a:rPr sz="950" b="0" i="0">
                <a:solidFill>
                  <a:srgbClr val="3A3935"/>
                </a:solidFill>
                <a:latin typeface="Calibri"/>
              </a:rPr>
              <a:t>recensement de 2022, agences, mobile money, marché des télécoms</a:t>
            </a:r>
          </a:p>
        </p:txBody>
      </p:sp>
      <p:sp>
        <p:nvSpPr>
          <p:cNvPr id="15" name="TextBox 14"/>
          <p:cNvSpPr txBox="1"/>
          <p:nvPr/>
        </p:nvSpPr>
        <p:spPr>
          <a:xfrm>
            <a:off x="3070783" y="2743200"/>
            <a:ext cx="292608" cy="310896"/>
          </a:xfrm>
          <a:prstGeom prst="rect">
            <a:avLst/>
          </a:prstGeom>
          <a:noFill/>
        </p:spPr>
        <p:txBody>
          <a:bodyPr wrap="square" anchor="t" lIns="0" rIns="0" tIns="0" bIns="0">
            <a:noAutofit/>
          </a:bodyPr>
          <a:lstStyle/>
          <a:p>
            <a:pPr algn="ctr">
              <a:lnSpc>
                <a:spcPct val="100000"/>
              </a:lnSpc>
              <a:spcBef>
                <a:spcPts val="0"/>
              </a:spcBef>
              <a:spcAft>
                <a:spcPts val="0"/>
              </a:spcAft>
            </a:pPr>
            <a:r>
              <a:rPr sz="1600" b="1" i="0">
                <a:solidFill>
                  <a:srgbClr val="B9B6AD"/>
                </a:solidFill>
                <a:latin typeface="Calibri"/>
              </a:rPr>
              <a:t>→</a:t>
            </a:r>
          </a:p>
        </p:txBody>
      </p:sp>
      <p:sp>
        <p:nvSpPr>
          <p:cNvPr id="16" name="Rounded Rectangle 15"/>
          <p:cNvSpPr/>
          <p:nvPr/>
        </p:nvSpPr>
        <p:spPr>
          <a:xfrm>
            <a:off x="3381679" y="2468880"/>
            <a:ext cx="2549575" cy="969264"/>
          </a:xfrm>
          <a:prstGeom prst="roundRect">
            <a:avLst>
              <a:gd name="adj" fmla="val 1132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46271" y="2615184"/>
            <a:ext cx="310896" cy="31089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mbria"/>
              </a:rPr>
              <a:t>2</a:t>
            </a:r>
          </a:p>
        </p:txBody>
      </p:sp>
      <p:sp>
        <p:nvSpPr>
          <p:cNvPr id="18" name="TextBox 17"/>
          <p:cNvSpPr txBox="1"/>
          <p:nvPr/>
        </p:nvSpPr>
        <p:spPr>
          <a:xfrm>
            <a:off x="3948607" y="2587752"/>
            <a:ext cx="1836343" cy="365760"/>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0D366B"/>
                </a:solidFill>
                <a:latin typeface="Cambria"/>
              </a:rPr>
              <a:t>Diagnostic</a:t>
            </a:r>
          </a:p>
        </p:txBody>
      </p:sp>
      <p:sp>
        <p:nvSpPr>
          <p:cNvPr id="19" name="TextBox 18"/>
          <p:cNvSpPr txBox="1"/>
          <p:nvPr/>
        </p:nvSpPr>
        <p:spPr>
          <a:xfrm>
            <a:off x="3546271" y="2980944"/>
            <a:ext cx="2220391" cy="402336"/>
          </a:xfrm>
          <a:prstGeom prst="rect">
            <a:avLst/>
          </a:prstGeom>
          <a:noFill/>
        </p:spPr>
        <p:txBody>
          <a:bodyPr wrap="square" anchor="t" lIns="0" rIns="0" tIns="0" bIns="0">
            <a:noAutofit/>
          </a:bodyPr>
          <a:lstStyle/>
          <a:p>
            <a:pPr algn="l">
              <a:lnSpc>
                <a:spcPct val="105000"/>
              </a:lnSpc>
              <a:spcBef>
                <a:spcPts val="0"/>
              </a:spcBef>
              <a:spcAft>
                <a:spcPts val="0"/>
              </a:spcAft>
            </a:pPr>
            <a:r>
              <a:rPr sz="950" b="0" i="0">
                <a:solidFill>
                  <a:srgbClr val="3A3935"/>
                </a:solidFill>
                <a:latin typeface="Calibri"/>
              </a:rPr>
              <a:t>les 5 objectifs, lus dans 117 communes, 39 préfectures et 6 régions</a:t>
            </a:r>
          </a:p>
        </p:txBody>
      </p:sp>
      <p:sp>
        <p:nvSpPr>
          <p:cNvPr id="20" name="TextBox 19"/>
          <p:cNvSpPr txBox="1"/>
          <p:nvPr/>
        </p:nvSpPr>
        <p:spPr>
          <a:xfrm>
            <a:off x="5949543" y="2743200"/>
            <a:ext cx="292608" cy="310896"/>
          </a:xfrm>
          <a:prstGeom prst="rect">
            <a:avLst/>
          </a:prstGeom>
          <a:noFill/>
        </p:spPr>
        <p:txBody>
          <a:bodyPr wrap="square" anchor="t" lIns="0" rIns="0" tIns="0" bIns="0">
            <a:noAutofit/>
          </a:bodyPr>
          <a:lstStyle/>
          <a:p>
            <a:pPr algn="ctr">
              <a:lnSpc>
                <a:spcPct val="100000"/>
              </a:lnSpc>
              <a:spcBef>
                <a:spcPts val="0"/>
              </a:spcBef>
              <a:spcAft>
                <a:spcPts val="0"/>
              </a:spcAft>
            </a:pPr>
            <a:r>
              <a:rPr sz="1600" b="1" i="0">
                <a:solidFill>
                  <a:srgbClr val="B9B6AD"/>
                </a:solidFill>
                <a:latin typeface="Calibri"/>
              </a:rPr>
              <a:t>→</a:t>
            </a:r>
          </a:p>
        </p:txBody>
      </p:sp>
      <p:sp>
        <p:nvSpPr>
          <p:cNvPr id="21" name="Rounded Rectangle 20"/>
          <p:cNvSpPr/>
          <p:nvPr/>
        </p:nvSpPr>
        <p:spPr>
          <a:xfrm>
            <a:off x="6260439" y="2468880"/>
            <a:ext cx="2549575" cy="969264"/>
          </a:xfrm>
          <a:prstGeom prst="roundRect">
            <a:avLst>
              <a:gd name="adj" fmla="val 1132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5031" y="2615184"/>
            <a:ext cx="310896" cy="31089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mbria"/>
              </a:rPr>
              <a:t>3</a:t>
            </a:r>
          </a:p>
        </p:txBody>
      </p:sp>
      <p:sp>
        <p:nvSpPr>
          <p:cNvPr id="23" name="TextBox 22"/>
          <p:cNvSpPr txBox="1"/>
          <p:nvPr/>
        </p:nvSpPr>
        <p:spPr>
          <a:xfrm>
            <a:off x="6827367" y="2587752"/>
            <a:ext cx="1836343" cy="365760"/>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0D366B"/>
                </a:solidFill>
                <a:latin typeface="Cambria"/>
              </a:rPr>
              <a:t>Priorisation</a:t>
            </a:r>
          </a:p>
        </p:txBody>
      </p:sp>
      <p:sp>
        <p:nvSpPr>
          <p:cNvPr id="24" name="TextBox 23"/>
          <p:cNvSpPr txBox="1"/>
          <p:nvPr/>
        </p:nvSpPr>
        <p:spPr>
          <a:xfrm>
            <a:off x="6425031" y="2980944"/>
            <a:ext cx="2220391" cy="402336"/>
          </a:xfrm>
          <a:prstGeom prst="rect">
            <a:avLst/>
          </a:prstGeom>
          <a:noFill/>
        </p:spPr>
        <p:txBody>
          <a:bodyPr wrap="square" anchor="t" lIns="0" rIns="0" tIns="0" bIns="0">
            <a:noAutofit/>
          </a:bodyPr>
          <a:lstStyle/>
          <a:p>
            <a:pPr algn="l">
              <a:lnSpc>
                <a:spcPct val="105000"/>
              </a:lnSpc>
              <a:spcBef>
                <a:spcPts val="0"/>
              </a:spcBef>
              <a:spcAft>
                <a:spcPts val="0"/>
              </a:spcAft>
            </a:pPr>
            <a:r>
              <a:rPr sz="950" b="0" i="0">
                <a:solidFill>
                  <a:srgbClr val="3A3935"/>
                </a:solidFill>
                <a:latin typeface="Calibri"/>
              </a:rPr>
              <a:t>un classement des 39 préfectures, de 0 à 100, puis la nature du manque</a:t>
            </a:r>
          </a:p>
        </p:txBody>
      </p:sp>
      <p:sp>
        <p:nvSpPr>
          <p:cNvPr id="25" name="TextBox 24"/>
          <p:cNvSpPr txBox="1"/>
          <p:nvPr/>
        </p:nvSpPr>
        <p:spPr>
          <a:xfrm>
            <a:off x="8828303" y="2743200"/>
            <a:ext cx="292608" cy="310896"/>
          </a:xfrm>
          <a:prstGeom prst="rect">
            <a:avLst/>
          </a:prstGeom>
          <a:noFill/>
        </p:spPr>
        <p:txBody>
          <a:bodyPr wrap="square" anchor="t" lIns="0" rIns="0" tIns="0" bIns="0">
            <a:noAutofit/>
          </a:bodyPr>
          <a:lstStyle/>
          <a:p>
            <a:pPr algn="ctr">
              <a:lnSpc>
                <a:spcPct val="100000"/>
              </a:lnSpc>
              <a:spcBef>
                <a:spcPts val="0"/>
              </a:spcBef>
              <a:spcAft>
                <a:spcPts val="0"/>
              </a:spcAft>
            </a:pPr>
            <a:r>
              <a:rPr sz="1600" b="1" i="0">
                <a:solidFill>
                  <a:srgbClr val="B9B6AD"/>
                </a:solidFill>
                <a:latin typeface="Calibri"/>
              </a:rPr>
              <a:t>→</a:t>
            </a:r>
          </a:p>
        </p:txBody>
      </p:sp>
      <p:sp>
        <p:nvSpPr>
          <p:cNvPr id="26" name="Rounded Rectangle 25"/>
          <p:cNvSpPr/>
          <p:nvPr/>
        </p:nvSpPr>
        <p:spPr>
          <a:xfrm>
            <a:off x="9139199" y="2468880"/>
            <a:ext cx="2549575" cy="969264"/>
          </a:xfrm>
          <a:prstGeom prst="roundRect">
            <a:avLst>
              <a:gd name="adj" fmla="val 1132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03791" y="2615184"/>
            <a:ext cx="310896" cy="31089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mbria"/>
              </a:rPr>
              <a:t>4</a:t>
            </a:r>
          </a:p>
        </p:txBody>
      </p:sp>
      <p:sp>
        <p:nvSpPr>
          <p:cNvPr id="28" name="TextBox 27"/>
          <p:cNvSpPr txBox="1"/>
          <p:nvPr/>
        </p:nvSpPr>
        <p:spPr>
          <a:xfrm>
            <a:off x="9706127" y="2587752"/>
            <a:ext cx="1836343" cy="365760"/>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0D366B"/>
                </a:solidFill>
                <a:latin typeface="Cambria"/>
              </a:rPr>
              <a:t>Recommandations</a:t>
            </a:r>
          </a:p>
        </p:txBody>
      </p:sp>
      <p:sp>
        <p:nvSpPr>
          <p:cNvPr id="29" name="TextBox 28"/>
          <p:cNvSpPr txBox="1"/>
          <p:nvPr/>
        </p:nvSpPr>
        <p:spPr>
          <a:xfrm>
            <a:off x="9303791" y="2980944"/>
            <a:ext cx="2220391" cy="402336"/>
          </a:xfrm>
          <a:prstGeom prst="rect">
            <a:avLst/>
          </a:prstGeom>
          <a:noFill/>
        </p:spPr>
        <p:txBody>
          <a:bodyPr wrap="square" anchor="t" lIns="0" rIns="0" tIns="0" bIns="0">
            <a:noAutofit/>
          </a:bodyPr>
          <a:lstStyle/>
          <a:p>
            <a:pPr algn="l">
              <a:lnSpc>
                <a:spcPct val="105000"/>
              </a:lnSpc>
              <a:spcBef>
                <a:spcPts val="0"/>
              </a:spcBef>
              <a:spcAft>
                <a:spcPts val="0"/>
              </a:spcAft>
            </a:pPr>
            <a:r>
              <a:rPr sz="950" b="0" i="0">
                <a:solidFill>
                  <a:srgbClr val="3A3935"/>
                </a:solidFill>
                <a:latin typeface="Calibri"/>
              </a:rPr>
              <a:t>12 actions, chacune chiffrée en habitants, avec son horizon</a:t>
            </a:r>
          </a:p>
        </p:txBody>
      </p:sp>
      <p:sp>
        <p:nvSpPr>
          <p:cNvPr id="30" name="TextBox 29"/>
          <p:cNvSpPr txBox="1"/>
          <p:nvPr/>
        </p:nvSpPr>
        <p:spPr>
          <a:xfrm>
            <a:off x="502920" y="3639312"/>
            <a:ext cx="1118585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TROIS DIMENSIONS POUR CLASSER LES 39 PRÉFECTURES</a:t>
            </a:r>
          </a:p>
        </p:txBody>
      </p:sp>
      <p:sp>
        <p:nvSpPr>
          <p:cNvPr id="31" name="Rounded Rectangle 30"/>
          <p:cNvSpPr/>
          <p:nvPr/>
        </p:nvSpPr>
        <p:spPr>
          <a:xfrm>
            <a:off x="502920" y="3913632"/>
            <a:ext cx="3570122" cy="841248"/>
          </a:xfrm>
          <a:prstGeom prst="roundRect">
            <a:avLst>
              <a:gd name="adj" fmla="val 13043"/>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85800" y="4078224"/>
            <a:ext cx="237744" cy="237744"/>
          </a:xfrm>
          <a:prstGeom prst="roundRect">
            <a:avLst>
              <a:gd name="adj" fmla="val 26923"/>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023360"/>
            <a:ext cx="2856890" cy="310896"/>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CB4B0C"/>
                </a:solidFill>
                <a:latin typeface="Calibri"/>
              </a:rPr>
              <a:t>Accès aux agences financières</a:t>
            </a:r>
          </a:p>
        </p:txBody>
      </p:sp>
      <p:sp>
        <p:nvSpPr>
          <p:cNvPr id="34" name="TextBox 33"/>
          <p:cNvSpPr txBox="1"/>
          <p:nvPr/>
        </p:nvSpPr>
        <p:spPr>
          <a:xfrm>
            <a:off x="1051560" y="4352544"/>
            <a:ext cx="2856890" cy="32918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3A3935"/>
                </a:solidFill>
                <a:latin typeface="Calibri"/>
              </a:rPr>
              <a:t>habitants par agence de banque, de microfinance ou d’assurance</a:t>
            </a:r>
          </a:p>
        </p:txBody>
      </p:sp>
      <p:sp>
        <p:nvSpPr>
          <p:cNvPr id="35" name="Rounded Rectangle 34"/>
          <p:cNvSpPr/>
          <p:nvPr/>
        </p:nvSpPr>
        <p:spPr>
          <a:xfrm>
            <a:off x="4310786" y="3913632"/>
            <a:ext cx="3570122" cy="841248"/>
          </a:xfrm>
          <a:prstGeom prst="roundRect">
            <a:avLst>
              <a:gd name="adj" fmla="val 13043"/>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493666" y="4078224"/>
            <a:ext cx="237744" cy="237744"/>
          </a:xfrm>
          <a:prstGeom prst="roundRect">
            <a:avLst>
              <a:gd name="adj" fmla="val 26923"/>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59426" y="4023360"/>
            <a:ext cx="2856890" cy="310896"/>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11613F"/>
                </a:solidFill>
                <a:latin typeface="Calibri"/>
              </a:rPr>
              <a:t>Maillage mobile money</a:t>
            </a:r>
          </a:p>
        </p:txBody>
      </p:sp>
      <p:sp>
        <p:nvSpPr>
          <p:cNvPr id="38" name="TextBox 37"/>
          <p:cNvSpPr txBox="1"/>
          <p:nvPr/>
        </p:nvSpPr>
        <p:spPr>
          <a:xfrm>
            <a:off x="4859426" y="4352544"/>
            <a:ext cx="2856890" cy="32918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3A3935"/>
                </a:solidFill>
                <a:latin typeface="Calibri"/>
              </a:rPr>
              <a:t>habitants par point mobile money</a:t>
            </a:r>
          </a:p>
        </p:txBody>
      </p:sp>
      <p:sp>
        <p:nvSpPr>
          <p:cNvPr id="39" name="Rounded Rectangle 38"/>
          <p:cNvSpPr/>
          <p:nvPr/>
        </p:nvSpPr>
        <p:spPr>
          <a:xfrm>
            <a:off x="8118652" y="3913632"/>
            <a:ext cx="3570122" cy="841248"/>
          </a:xfrm>
          <a:prstGeom prst="roundRect">
            <a:avLst>
              <a:gd name="adj" fmla="val 13043"/>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301532" y="4078224"/>
            <a:ext cx="237744" cy="237744"/>
          </a:xfrm>
          <a:prstGeom prst="roundRect">
            <a:avLst>
              <a:gd name="adj" fmla="val 26923"/>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67292" y="4023360"/>
            <a:ext cx="2856890" cy="310896"/>
          </a:xfrm>
          <a:prstGeom prst="rect">
            <a:avLst/>
          </a:prstGeom>
          <a:noFill/>
        </p:spPr>
        <p:txBody>
          <a:bodyPr wrap="square" anchor="ctr" lIns="0" rIns="0" tIns="0" bIns="0">
            <a:noAutofit/>
          </a:bodyPr>
          <a:lstStyle/>
          <a:p>
            <a:pPr algn="l">
              <a:lnSpc>
                <a:spcPct val="100000"/>
              </a:lnSpc>
              <a:spcBef>
                <a:spcPts val="0"/>
              </a:spcBef>
              <a:spcAft>
                <a:spcPts val="0"/>
              </a:spcAft>
            </a:pPr>
            <a:r>
              <a:rPr sz="1300" b="1" i="0">
                <a:solidFill>
                  <a:srgbClr val="4A3AA7"/>
                </a:solidFill>
                <a:latin typeface="Calibri"/>
              </a:rPr>
              <a:t>Couverture réseau</a:t>
            </a:r>
          </a:p>
        </p:txBody>
      </p:sp>
      <p:sp>
        <p:nvSpPr>
          <p:cNvPr id="42" name="TextBox 41"/>
          <p:cNvSpPr txBox="1"/>
          <p:nvPr/>
        </p:nvSpPr>
        <p:spPr>
          <a:xfrm>
            <a:off x="8667292" y="4352544"/>
            <a:ext cx="2856890" cy="32918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3A3935"/>
                </a:solidFill>
                <a:latin typeface="Calibri"/>
              </a:rPr>
              <a:t>part de la population couverte, estimation théorique</a:t>
            </a:r>
          </a:p>
        </p:txBody>
      </p:sp>
      <p:sp>
        <p:nvSpPr>
          <p:cNvPr id="43" name="Rounded Rectangle 42"/>
          <p:cNvSpPr/>
          <p:nvPr/>
        </p:nvSpPr>
        <p:spPr>
          <a:xfrm>
            <a:off x="502920" y="4937760"/>
            <a:ext cx="11185855" cy="585216"/>
          </a:xfrm>
          <a:prstGeom prst="roundRect">
            <a:avLst>
              <a:gd name="adj" fmla="val 15625"/>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0664" y="4992624"/>
            <a:ext cx="10710367" cy="475488"/>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FCE588"/>
                </a:solidFill>
                <a:latin typeface="Calibri"/>
              </a:rPr>
              <a:t>À RETENIR  ·  </a:t>
            </a:r>
            <a:r>
              <a:rPr sz="1150" b="1" i="0">
                <a:solidFill>
                  <a:srgbClr val="FFFFFF"/>
                </a:solidFill>
                <a:latin typeface="Calibri"/>
              </a:rPr>
              <a:t>le classement va de 0 à 100 ; priorité haute à 70 ou plus. Il mesure l’intensité du manque, pas le nombre d’habitants, et ne porte pas sur l’usage d’Internet, connu seulement par région.</a:t>
            </a:r>
          </a:p>
        </p:txBody>
      </p:sp>
      <p:sp>
        <p:nvSpPr>
          <p:cNvPr id="45" name="Rounded Rectangle 44"/>
          <p:cNvSpPr/>
          <p:nvPr/>
        </p:nvSpPr>
        <p:spPr>
          <a:xfrm>
            <a:off x="502920" y="5632704"/>
            <a:ext cx="11185855" cy="585216"/>
          </a:xfrm>
          <a:prstGeom prst="roundRect">
            <a:avLst>
              <a:gd name="adj" fmla="val 15625"/>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 y="5687568"/>
            <a:ext cx="10710367" cy="475488"/>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6B4700"/>
                </a:solidFill>
                <a:latin typeface="Calibri"/>
              </a:rPr>
              <a:t>RÉSERVE  ·  </a:t>
            </a:r>
            <a:r>
              <a:rPr sz="1150" b="0" i="0">
                <a:solidFill>
                  <a:srgbClr val="141413"/>
                </a:solidFill>
                <a:latin typeface="Calibri"/>
              </a:rPr>
              <a:t>la couverture réseau est théorique (rayon de 20 km autour des antennes) et inconnue dans 3 préfectures : toute action sur le réseau attend une mesure de la couverture réelle.</a:t>
            </a:r>
          </a:p>
        </p:txBody>
      </p:sp>
      <p:sp>
        <p:nvSpPr>
          <p:cNvPr id="47" name="TextBox 46"/>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Sources, seuils et tests de robustesse : tableau de bord, page « Sources et méthode ».</a:t>
            </a:r>
          </a:p>
        </p:txBody>
      </p:sp>
      <p:sp>
        <p:nvSpPr>
          <p:cNvPr id="48" name="TextBox 47"/>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02 · USAGE D’INTERNET</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3</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L’usage d’Internet a triplé depuis 2017, mais il ralentit</a:t>
            </a:r>
          </a:p>
        </p:txBody>
      </p:sp>
      <p:sp>
        <p:nvSpPr>
          <p:cNvPr id="8" name="Rounded Rectangle 7"/>
          <p:cNvSpPr/>
          <p:nvPr/>
        </p:nvSpPr>
        <p:spPr>
          <a:xfrm>
            <a:off x="502920"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86293" y="1581912"/>
            <a:ext cx="897622"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Sous le seuil</a:t>
            </a:r>
          </a:p>
        </p:txBody>
      </p:sp>
      <p:sp>
        <p:nvSpPr>
          <p:cNvPr id="10" name="TextBox 9"/>
          <p:cNvSpPr txBox="1"/>
          <p:nvPr/>
        </p:nvSpPr>
        <p:spPr>
          <a:xfrm>
            <a:off x="667512" y="1600200"/>
            <a:ext cx="134562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USAGE (2024)</a:t>
            </a:r>
          </a:p>
        </p:txBody>
      </p:sp>
      <p:sp>
        <p:nvSpPr>
          <p:cNvPr id="11" name="TextBox 10"/>
          <p:cNvSpPr txBox="1"/>
          <p:nvPr/>
        </p:nvSpPr>
        <p:spPr>
          <a:xfrm>
            <a:off x="667512"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39,5 %</a:t>
            </a:r>
          </a:p>
        </p:txBody>
      </p:sp>
      <p:sp>
        <p:nvSpPr>
          <p:cNvPr id="12" name="TextBox 11"/>
          <p:cNvSpPr txBox="1"/>
          <p:nvPr/>
        </p:nvSpPr>
        <p:spPr>
          <a:xfrm>
            <a:off x="667512"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 la population utilise Internet</a:t>
            </a:r>
          </a:p>
        </p:txBody>
      </p:sp>
      <p:sp>
        <p:nvSpPr>
          <p:cNvPr id="13" name="TextBox 12"/>
          <p:cNvSpPr txBox="1"/>
          <p:nvPr/>
        </p:nvSpPr>
        <p:spPr>
          <a:xfrm>
            <a:off x="667512"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seuil de 40 % ; Afrique subsaharienne : 33,6 %</a:t>
            </a:r>
          </a:p>
        </p:txBody>
      </p:sp>
      <p:sp>
        <p:nvSpPr>
          <p:cNvPr id="14" name="Rounded Rectangle 13"/>
          <p:cNvSpPr/>
          <p:nvPr/>
        </p:nvSpPr>
        <p:spPr>
          <a:xfrm>
            <a:off x="3349675"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4267" y="1600200"/>
            <a:ext cx="2316403"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DEPUIS 2017</a:t>
            </a:r>
          </a:p>
        </p:txBody>
      </p:sp>
      <p:sp>
        <p:nvSpPr>
          <p:cNvPr id="16" name="TextBox 15"/>
          <p:cNvSpPr txBox="1"/>
          <p:nvPr/>
        </p:nvSpPr>
        <p:spPr>
          <a:xfrm>
            <a:off x="3514267"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0D366B"/>
                </a:solidFill>
                <a:latin typeface="Cambria"/>
              </a:rPr>
              <a:t>× 3,2</a:t>
            </a:r>
          </a:p>
        </p:txBody>
      </p:sp>
      <p:sp>
        <p:nvSpPr>
          <p:cNvPr id="17" name="TextBox 16"/>
          <p:cNvSpPr txBox="1"/>
          <p:nvPr/>
        </p:nvSpPr>
        <p:spPr>
          <a:xfrm>
            <a:off x="3514267"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 12,4 % à 39,5 %</a:t>
            </a:r>
          </a:p>
        </p:txBody>
      </p:sp>
      <p:sp>
        <p:nvSpPr>
          <p:cNvPr id="18" name="TextBox 17"/>
          <p:cNvSpPr txBox="1"/>
          <p:nvPr/>
        </p:nvSpPr>
        <p:spPr>
          <a:xfrm>
            <a:off x="3514267"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deux poussées : 2016 et 2020</a:t>
            </a:r>
          </a:p>
        </p:txBody>
      </p:sp>
      <p:sp>
        <p:nvSpPr>
          <p:cNvPr id="19" name="Rounded Rectangle 18"/>
          <p:cNvSpPr/>
          <p:nvPr/>
        </p:nvSpPr>
        <p:spPr>
          <a:xfrm>
            <a:off x="6196431"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3861" y="1581912"/>
            <a:ext cx="633566"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Ralentit</a:t>
            </a:r>
          </a:p>
        </p:txBody>
      </p:sp>
      <p:sp>
        <p:nvSpPr>
          <p:cNvPr id="21" name="TextBox 20"/>
          <p:cNvSpPr txBox="1"/>
          <p:nvPr/>
        </p:nvSpPr>
        <p:spPr>
          <a:xfrm>
            <a:off x="6361023" y="1600200"/>
            <a:ext cx="1609685"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RYTHME RÉCENT</a:t>
            </a:r>
          </a:p>
        </p:txBody>
      </p:sp>
      <p:sp>
        <p:nvSpPr>
          <p:cNvPr id="22" name="TextBox 21"/>
          <p:cNvSpPr txBox="1"/>
          <p:nvPr/>
        </p:nvSpPr>
        <p:spPr>
          <a:xfrm>
            <a:off x="6361023"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+1,9</a:t>
            </a:r>
            <a:r>
              <a:rPr sz="1200" b="1" i="0">
                <a:solidFill>
                  <a:srgbClr val="141413"/>
                </a:solidFill>
                <a:latin typeface="Calibri"/>
              </a:rPr>
              <a:t> point</a:t>
            </a:r>
          </a:p>
        </p:txBody>
      </p:sp>
      <p:sp>
        <p:nvSpPr>
          <p:cNvPr id="23" name="TextBox 22"/>
          <p:cNvSpPr txBox="1"/>
          <p:nvPr/>
        </p:nvSpPr>
        <p:spPr>
          <a:xfrm>
            <a:off x="6361023"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gagné en 2024</a:t>
            </a:r>
          </a:p>
        </p:txBody>
      </p:sp>
      <p:sp>
        <p:nvSpPr>
          <p:cNvPr id="24" name="TextBox 23"/>
          <p:cNvSpPr txBox="1"/>
          <p:nvPr/>
        </p:nvSpPr>
        <p:spPr>
          <a:xfrm>
            <a:off x="6361023"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+8,3 points en 2020 ; moins de 2 par an depuis 2023</a:t>
            </a:r>
          </a:p>
        </p:txBody>
      </p:sp>
      <p:sp>
        <p:nvSpPr>
          <p:cNvPr id="25" name="Rounded Rectangle 24"/>
          <p:cNvSpPr/>
          <p:nvPr/>
        </p:nvSpPr>
        <p:spPr>
          <a:xfrm>
            <a:off x="9043187"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07779" y="1600200"/>
            <a:ext cx="2316403"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ÉCART RÉGIONAL (2021/22)</a:t>
            </a:r>
          </a:p>
        </p:txBody>
      </p:sp>
      <p:sp>
        <p:nvSpPr>
          <p:cNvPr id="27" name="TextBox 26"/>
          <p:cNvSpPr txBox="1"/>
          <p:nvPr/>
        </p:nvSpPr>
        <p:spPr>
          <a:xfrm>
            <a:off x="9207779"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0D366B"/>
                </a:solidFill>
                <a:latin typeface="Cambria"/>
              </a:rPr>
              <a:t>× 4,7</a:t>
            </a:r>
          </a:p>
        </p:txBody>
      </p:sp>
      <p:sp>
        <p:nvSpPr>
          <p:cNvPr id="28" name="TextBox 27"/>
          <p:cNvSpPr txBox="1"/>
          <p:nvPr/>
        </p:nvSpPr>
        <p:spPr>
          <a:xfrm>
            <a:off x="9207779" y="2267712"/>
            <a:ext cx="2316403" cy="33832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d’accès déclaré, Grand Lomé face aux Savanes</a:t>
            </a:r>
          </a:p>
        </p:txBody>
      </p:sp>
      <p:sp>
        <p:nvSpPr>
          <p:cNvPr id="29" name="TextBox 28"/>
          <p:cNvSpPr txBox="1"/>
          <p:nvPr/>
        </p:nvSpPr>
        <p:spPr>
          <a:xfrm>
            <a:off x="9207779" y="2651760"/>
            <a:ext cx="2316403" cy="20116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66,7 % contre 14,3 % des 15 ans et plus</a:t>
            </a:r>
          </a:p>
        </p:txBody>
      </p:sp>
      <p:sp>
        <p:nvSpPr>
          <p:cNvPr id="30" name="Rounded Rectangle 29"/>
          <p:cNvSpPr/>
          <p:nvPr/>
        </p:nvSpPr>
        <p:spPr>
          <a:xfrm>
            <a:off x="502920" y="3090672"/>
            <a:ext cx="6720840" cy="2578608"/>
          </a:xfrm>
          <a:prstGeom prst="roundRect">
            <a:avLst>
              <a:gd name="adj" fmla="val 4255"/>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218688"/>
            <a:ext cx="6318503"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L’usage d’Internet depuis 2010, et l’accès par région</a:t>
            </a:r>
          </a:p>
        </p:txBody>
      </p:sp>
      <p:pic>
        <p:nvPicPr>
          <p:cNvPr id="32" name="Picture 31" descr="internet.png"/>
          <p:cNvPicPr>
            <a:picLocks noChangeAspect="1"/>
          </p:cNvPicPr>
          <p:nvPr/>
        </p:nvPicPr>
        <p:blipFill>
          <a:blip r:embed="rId3"/>
          <a:stretch>
            <a:fillRect/>
          </a:stretch>
        </p:blipFill>
        <p:spPr>
          <a:xfrm>
            <a:off x="1365571" y="3511296"/>
            <a:ext cx="4995536" cy="2066543"/>
          </a:xfrm>
          <a:prstGeom prst="rect">
            <a:avLst/>
          </a:prstGeom>
        </p:spPr>
      </p:pic>
      <p:sp>
        <p:nvSpPr>
          <p:cNvPr id="33" name="TextBox 32"/>
          <p:cNvSpPr txBox="1"/>
          <p:nvPr/>
        </p:nvSpPr>
        <p:spPr>
          <a:xfrm>
            <a:off x="7452359" y="3090672"/>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CONSTAT CLÉ</a:t>
            </a:r>
          </a:p>
        </p:txBody>
      </p:sp>
      <p:sp>
        <p:nvSpPr>
          <p:cNvPr id="34" name="Rounded Rectangle 33"/>
          <p:cNvSpPr/>
          <p:nvPr/>
        </p:nvSpPr>
        <p:spPr>
          <a:xfrm>
            <a:off x="7452359" y="3346704"/>
            <a:ext cx="4236415" cy="969263"/>
          </a:xfrm>
          <a:prstGeom prst="roundRect">
            <a:avLst>
              <a:gd name="adj" fmla="val 11320"/>
            </a:avLst>
          </a:prstGeom>
          <a:solidFill>
            <a:srgbClr val="E8F0FB"/>
          </a:solidFill>
          <a:ln w="9525">
            <a:solidFill>
              <a:srgbClr val="C7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53527" y="3456432"/>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Au rythme actuel, l’usage généralisé (60 %) n’arriverait qu’en 2035 ; au rythme de 2019-2024, dès 2030.</a:t>
            </a:r>
          </a:p>
        </p:txBody>
      </p:sp>
      <p:sp>
        <p:nvSpPr>
          <p:cNvPr id="36" name="TextBox 35"/>
          <p:cNvSpPr txBox="1"/>
          <p:nvPr/>
        </p:nvSpPr>
        <p:spPr>
          <a:xfrm>
            <a:off x="7452359" y="4443984"/>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ENJEU POUR L’ACTION PUBLIQUE</a:t>
            </a:r>
          </a:p>
        </p:txBody>
      </p:sp>
      <p:sp>
        <p:nvSpPr>
          <p:cNvPr id="37" name="Rounded Rectangle 36"/>
          <p:cNvSpPr/>
          <p:nvPr/>
        </p:nvSpPr>
        <p:spPr>
          <a:xfrm>
            <a:off x="7452359" y="4700016"/>
            <a:ext cx="4236415" cy="969263"/>
          </a:xfrm>
          <a:prstGeom prst="roundRect">
            <a:avLst>
              <a:gd name="adj" fmla="val 11320"/>
            </a:avLst>
          </a:prstGeom>
          <a:solidFill>
            <a:srgbClr val="E2F4EC"/>
          </a:solidFill>
          <a:ln w="9525">
            <a:solidFill>
              <a:srgbClr val="BFE3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53527" y="4809744"/>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Lever les freins de prix et de compétences, d’abord dans les </a:t>
            </a:r>
            <a:r>
              <a:rPr sz="1100" b="1" i="0">
                <a:solidFill>
                  <a:srgbClr val="BB537D"/>
                </a:solidFill>
                <a:latin typeface="Calibri"/>
              </a:rPr>
              <a:t>Savanes</a:t>
            </a:r>
            <a:r>
              <a:rPr sz="1100" b="1" i="0">
                <a:solidFill>
                  <a:srgbClr val="141413"/>
                </a:solidFill>
                <a:latin typeface="Calibri"/>
              </a:rPr>
              <a:t> (14,3 %) et les </a:t>
            </a:r>
            <a:r>
              <a:rPr sz="1100" b="1" i="0">
                <a:solidFill>
                  <a:srgbClr val="AB6300"/>
                </a:solidFill>
                <a:latin typeface="Calibri"/>
              </a:rPr>
              <a:t>Plateaux</a:t>
            </a:r>
            <a:r>
              <a:rPr sz="1100" b="1" i="0">
                <a:solidFill>
                  <a:srgbClr val="141413"/>
                </a:solidFill>
                <a:latin typeface="Calibri"/>
              </a:rPr>
              <a:t> (19,6 %), où l’accès est le plus bas.</a:t>
            </a:r>
          </a:p>
        </p:txBody>
      </p:sp>
      <p:sp>
        <p:nvSpPr>
          <p:cNvPr id="39" name="Rounded Rectangle 38"/>
          <p:cNvSpPr/>
          <p:nvPr/>
        </p:nvSpPr>
        <p:spPr>
          <a:xfrm>
            <a:off x="502920" y="5779008"/>
            <a:ext cx="11185855" cy="530352"/>
          </a:xfrm>
          <a:prstGeom prst="roundRect">
            <a:avLst>
              <a:gd name="adj" fmla="val 17241"/>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 y="5833872"/>
            <a:ext cx="10710367" cy="420623"/>
          </a:xfrm>
          <a:prstGeom prst="rect">
            <a:avLst/>
          </a:prstGeom>
          <a:noFill/>
        </p:spPr>
        <p:txBody>
          <a:bodyPr wrap="square" anchor="ctr" lIns="0" rIns="0" tIns="0" bIns="0">
            <a:noAutofit/>
          </a:bodyPr>
          <a:lstStyle/>
          <a:p>
            <a:pPr algn="l">
              <a:lnSpc>
                <a:spcPct val="105000"/>
              </a:lnSpc>
              <a:spcBef>
                <a:spcPts val="0"/>
              </a:spcBef>
              <a:spcAft>
                <a:spcPts val="0"/>
              </a:spcAft>
            </a:pPr>
            <a:r>
              <a:rPr sz="950" b="1" i="0">
                <a:solidFill>
                  <a:srgbClr val="6B4700"/>
                </a:solidFill>
                <a:latin typeface="Calibri"/>
              </a:rPr>
              <a:t>À SAVOIR  ·  </a:t>
            </a:r>
            <a:r>
              <a:rPr sz="1050" b="0" i="0">
                <a:solidFill>
                  <a:srgbClr val="141413"/>
                </a:solidFill>
                <a:latin typeface="Calibri"/>
              </a:rPr>
              <a:t>l’usage national est une estimation internationale ; l’accès régional est déclaré par les ménages : les deux ne se comparent pas. Un cercle vide marque une classe qui dépend de la période de référence.</a:t>
            </a:r>
          </a:p>
        </p:txBody>
      </p:sp>
      <p:sp>
        <p:nvSpPr>
          <p:cNvPr id="41" name="TextBox 40"/>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42" name="TextBox 41"/>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03 · MARCHÉ DES TÉLÉCOMS</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4</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Un duopole qui investit moins, une data encore chère</a:t>
            </a:r>
          </a:p>
        </p:txBody>
      </p:sp>
      <p:sp>
        <p:nvSpPr>
          <p:cNvPr id="8" name="Rounded Rectangle 7"/>
          <p:cNvSpPr/>
          <p:nvPr/>
        </p:nvSpPr>
        <p:spPr>
          <a:xfrm>
            <a:off x="502920"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78242" y="1581912"/>
            <a:ext cx="1005673"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Très concentré</a:t>
            </a:r>
          </a:p>
        </p:txBody>
      </p:sp>
      <p:sp>
        <p:nvSpPr>
          <p:cNvPr id="10" name="TextBox 9"/>
          <p:cNvSpPr txBox="1"/>
          <p:nvPr/>
        </p:nvSpPr>
        <p:spPr>
          <a:xfrm>
            <a:off x="667512" y="1600200"/>
            <a:ext cx="1237578"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MARCHÉ (2025)</a:t>
            </a:r>
          </a:p>
        </p:txBody>
      </p:sp>
      <p:sp>
        <p:nvSpPr>
          <p:cNvPr id="11" name="TextBox 10"/>
          <p:cNvSpPr txBox="1"/>
          <p:nvPr/>
        </p:nvSpPr>
        <p:spPr>
          <a:xfrm>
            <a:off x="667512"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64,4 %</a:t>
            </a:r>
          </a:p>
        </p:txBody>
      </p:sp>
      <p:sp>
        <p:nvSpPr>
          <p:cNvPr id="12" name="TextBox 11"/>
          <p:cNvSpPr txBox="1"/>
          <p:nvPr/>
        </p:nvSpPr>
        <p:spPr>
          <a:xfrm>
            <a:off x="667512"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des abonnés data chez Togocom</a:t>
            </a:r>
          </a:p>
        </p:txBody>
      </p:sp>
      <p:sp>
        <p:nvSpPr>
          <p:cNvPr id="13" name="TextBox 12"/>
          <p:cNvSpPr txBox="1"/>
          <p:nvPr/>
        </p:nvSpPr>
        <p:spPr>
          <a:xfrm>
            <a:off x="667512"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deux opérateurs se partagent le marché</a:t>
            </a:r>
          </a:p>
        </p:txBody>
      </p:sp>
      <p:sp>
        <p:nvSpPr>
          <p:cNvPr id="14" name="Rounded Rectangle 13"/>
          <p:cNvSpPr/>
          <p:nvPr/>
        </p:nvSpPr>
        <p:spPr>
          <a:xfrm>
            <a:off x="3349675"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45109" y="1581912"/>
            <a:ext cx="885562" cy="201168"/>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0D366B"/>
                </a:solidFill>
                <a:latin typeface="Calibri"/>
              </a:rPr>
              <a:t>Seuil franchi</a:t>
            </a:r>
          </a:p>
        </p:txBody>
      </p:sp>
      <p:sp>
        <p:nvSpPr>
          <p:cNvPr id="16" name="TextBox 15"/>
          <p:cNvSpPr txBox="1"/>
          <p:nvPr/>
        </p:nvSpPr>
        <p:spPr>
          <a:xfrm>
            <a:off x="3514267" y="1600200"/>
            <a:ext cx="135768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HAUT DÉBIT (2025)</a:t>
            </a:r>
          </a:p>
        </p:txBody>
      </p:sp>
      <p:sp>
        <p:nvSpPr>
          <p:cNvPr id="17" name="TextBox 16"/>
          <p:cNvSpPr txBox="1"/>
          <p:nvPr/>
        </p:nvSpPr>
        <p:spPr>
          <a:xfrm>
            <a:off x="3514267"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81,3 %</a:t>
            </a:r>
          </a:p>
        </p:txBody>
      </p:sp>
      <p:sp>
        <p:nvSpPr>
          <p:cNvPr id="18" name="TextBox 17"/>
          <p:cNvSpPr txBox="1"/>
          <p:nvPr/>
        </p:nvSpPr>
        <p:spPr>
          <a:xfrm>
            <a:off x="3514267"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des abonnements data en 3G ou 4G</a:t>
            </a:r>
          </a:p>
        </p:txBody>
      </p:sp>
      <p:sp>
        <p:nvSpPr>
          <p:cNvPr id="19" name="TextBox 18"/>
          <p:cNvSpPr txBox="1"/>
          <p:nvPr/>
        </p:nvSpPr>
        <p:spPr>
          <a:xfrm>
            <a:off x="3514267"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un abonnement n’est pas une personne ; 6,3 million d’abonnements</a:t>
            </a:r>
          </a:p>
        </p:txBody>
      </p:sp>
      <p:sp>
        <p:nvSpPr>
          <p:cNvPr id="20" name="Rounded Rectangle 19"/>
          <p:cNvSpPr/>
          <p:nvPr/>
        </p:nvSpPr>
        <p:spPr>
          <a:xfrm>
            <a:off x="6196431"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35911" y="1581912"/>
            <a:ext cx="1041516"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Proche du seuil</a:t>
            </a:r>
          </a:p>
        </p:txBody>
      </p:sp>
      <p:sp>
        <p:nvSpPr>
          <p:cNvPr id="22" name="TextBox 21"/>
          <p:cNvSpPr txBox="1"/>
          <p:nvPr/>
        </p:nvSpPr>
        <p:spPr>
          <a:xfrm>
            <a:off x="6361023" y="1600200"/>
            <a:ext cx="1201735"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INVESTISSEMENT</a:t>
            </a:r>
          </a:p>
        </p:txBody>
      </p:sp>
      <p:sp>
        <p:nvSpPr>
          <p:cNvPr id="23" name="TextBox 22"/>
          <p:cNvSpPr txBox="1"/>
          <p:nvPr/>
        </p:nvSpPr>
        <p:spPr>
          <a:xfrm>
            <a:off x="6361023"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AB6300"/>
                </a:solidFill>
                <a:latin typeface="Cambria"/>
              </a:rPr>
              <a:t>16,3 %</a:t>
            </a:r>
          </a:p>
        </p:txBody>
      </p:sp>
      <p:sp>
        <p:nvSpPr>
          <p:cNvPr id="24" name="TextBox 23"/>
          <p:cNvSpPr txBox="1"/>
          <p:nvPr/>
        </p:nvSpPr>
        <p:spPr>
          <a:xfrm>
            <a:off x="6361023"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du chiffre d’affaires investi en 2025</a:t>
            </a:r>
          </a:p>
        </p:txBody>
      </p:sp>
      <p:sp>
        <p:nvSpPr>
          <p:cNvPr id="25" name="TextBox 24"/>
          <p:cNvSpPr txBox="1"/>
          <p:nvPr/>
        </p:nvSpPr>
        <p:spPr>
          <a:xfrm>
            <a:off x="6361023"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36,9 % en 2018 ; seuil : 15 %</a:t>
            </a:r>
          </a:p>
        </p:txBody>
      </p:sp>
      <p:sp>
        <p:nvSpPr>
          <p:cNvPr id="26" name="Rounded Rectangle 25"/>
          <p:cNvSpPr/>
          <p:nvPr/>
        </p:nvSpPr>
        <p:spPr>
          <a:xfrm>
            <a:off x="9043187"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542478" y="1581912"/>
            <a:ext cx="981705"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Sous le repère</a:t>
            </a:r>
          </a:p>
        </p:txBody>
      </p:sp>
      <p:sp>
        <p:nvSpPr>
          <p:cNvPr id="28" name="TextBox 27"/>
          <p:cNvSpPr txBox="1"/>
          <p:nvPr/>
        </p:nvSpPr>
        <p:spPr>
          <a:xfrm>
            <a:off x="9207779" y="1600200"/>
            <a:ext cx="1261546"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SITES RADIO (2025)</a:t>
            </a:r>
          </a:p>
        </p:txBody>
      </p:sp>
      <p:sp>
        <p:nvSpPr>
          <p:cNvPr id="29" name="TextBox 28"/>
          <p:cNvSpPr txBox="1"/>
          <p:nvPr/>
        </p:nvSpPr>
        <p:spPr>
          <a:xfrm>
            <a:off x="9207779"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8A1C1B"/>
                </a:solidFill>
                <a:latin typeface="Cambria"/>
              </a:rPr>
              <a:t>+21</a:t>
            </a:r>
          </a:p>
        </p:txBody>
      </p:sp>
      <p:sp>
        <p:nvSpPr>
          <p:cNvPr id="30" name="TextBox 29"/>
          <p:cNvSpPr txBox="1"/>
          <p:nvPr/>
        </p:nvSpPr>
        <p:spPr>
          <a:xfrm>
            <a:off x="9207779"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sites ajoutés dans l’année</a:t>
            </a:r>
          </a:p>
        </p:txBody>
      </p:sp>
      <p:sp>
        <p:nvSpPr>
          <p:cNvPr id="31" name="TextBox 30"/>
          <p:cNvSpPr txBox="1"/>
          <p:nvPr/>
        </p:nvSpPr>
        <p:spPr>
          <a:xfrm>
            <a:off x="9207779"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+215 en 2022 ; repère : 50 par an</a:t>
            </a:r>
          </a:p>
        </p:txBody>
      </p:sp>
      <p:sp>
        <p:nvSpPr>
          <p:cNvPr id="32" name="Rounded Rectangle 31"/>
          <p:cNvSpPr/>
          <p:nvPr/>
        </p:nvSpPr>
        <p:spPr>
          <a:xfrm>
            <a:off x="502920" y="3090672"/>
            <a:ext cx="6720840" cy="2578608"/>
          </a:xfrm>
          <a:prstGeom prst="roundRect">
            <a:avLst>
              <a:gd name="adj" fmla="val 4255"/>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3218688"/>
            <a:ext cx="6318503"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L’investissement des opérateurs et les nouveaux sites radio</a:t>
            </a:r>
          </a:p>
        </p:txBody>
      </p:sp>
      <p:pic>
        <p:nvPicPr>
          <p:cNvPr id="34" name="Picture 33" descr="marche.png"/>
          <p:cNvPicPr>
            <a:picLocks noChangeAspect="1"/>
          </p:cNvPicPr>
          <p:nvPr/>
        </p:nvPicPr>
        <p:blipFill>
          <a:blip r:embed="rId3"/>
          <a:stretch>
            <a:fillRect/>
          </a:stretch>
        </p:blipFill>
        <p:spPr>
          <a:xfrm>
            <a:off x="1358706" y="3511296"/>
            <a:ext cx="5009267" cy="2066543"/>
          </a:xfrm>
          <a:prstGeom prst="rect">
            <a:avLst/>
          </a:prstGeom>
        </p:spPr>
      </p:pic>
      <p:sp>
        <p:nvSpPr>
          <p:cNvPr id="35" name="TextBox 34"/>
          <p:cNvSpPr txBox="1"/>
          <p:nvPr/>
        </p:nvSpPr>
        <p:spPr>
          <a:xfrm>
            <a:off x="7452359" y="3090672"/>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CONSTAT CLÉ</a:t>
            </a:r>
          </a:p>
        </p:txBody>
      </p:sp>
      <p:sp>
        <p:nvSpPr>
          <p:cNvPr id="36" name="Rounded Rectangle 35"/>
          <p:cNvSpPr/>
          <p:nvPr/>
        </p:nvSpPr>
        <p:spPr>
          <a:xfrm>
            <a:off x="7452359" y="3346704"/>
            <a:ext cx="4236415" cy="969263"/>
          </a:xfrm>
          <a:prstGeom prst="roundRect">
            <a:avLst>
              <a:gd name="adj" fmla="val 11320"/>
            </a:avLst>
          </a:prstGeom>
          <a:solidFill>
            <a:srgbClr val="E8F0FB"/>
          </a:solidFill>
          <a:ln w="9525">
            <a:solidFill>
              <a:srgbClr val="C7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53527" y="3456432"/>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Le haut débit mobile est acquis, mais l’investissement et les nouveaux sites reculent depuis 2023 : l’extension du réseau vers les zones mal couvertes en dépend.</a:t>
            </a:r>
          </a:p>
        </p:txBody>
      </p:sp>
      <p:sp>
        <p:nvSpPr>
          <p:cNvPr id="38" name="TextBox 37"/>
          <p:cNvSpPr txBox="1"/>
          <p:nvPr/>
        </p:nvSpPr>
        <p:spPr>
          <a:xfrm>
            <a:off x="7452359" y="4443984"/>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ENJEU POUR L’ACTION PUBLIQUE</a:t>
            </a:r>
          </a:p>
        </p:txBody>
      </p:sp>
      <p:sp>
        <p:nvSpPr>
          <p:cNvPr id="39" name="Rounded Rectangle 38"/>
          <p:cNvSpPr/>
          <p:nvPr/>
        </p:nvSpPr>
        <p:spPr>
          <a:xfrm>
            <a:off x="7452359" y="4700016"/>
            <a:ext cx="4236415" cy="969263"/>
          </a:xfrm>
          <a:prstGeom prst="roundRect">
            <a:avLst>
              <a:gd name="adj" fmla="val 11320"/>
            </a:avLst>
          </a:prstGeom>
          <a:solidFill>
            <a:srgbClr val="E2F4EC"/>
          </a:solidFill>
          <a:ln w="9525">
            <a:solidFill>
              <a:srgbClr val="BFE3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53527" y="4809744"/>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Garder l’investissement au-dessus de 15 % du chiffre d’affaires, orienter les nouveaux sites vers les zones sans réseau, et ramener 1 Go de 5,30 % à 2 % du revenu mensuel.</a:t>
            </a:r>
          </a:p>
        </p:txBody>
      </p:sp>
      <p:sp>
        <p:nvSpPr>
          <p:cNvPr id="41" name="Rounded Rectangle 40"/>
          <p:cNvSpPr/>
          <p:nvPr/>
        </p:nvSpPr>
        <p:spPr>
          <a:xfrm>
            <a:off x="502920" y="5779008"/>
            <a:ext cx="11185855" cy="530352"/>
          </a:xfrm>
          <a:prstGeom prst="roundRect">
            <a:avLst>
              <a:gd name="adj" fmla="val 17241"/>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 y="5833872"/>
            <a:ext cx="10710367" cy="420623"/>
          </a:xfrm>
          <a:prstGeom prst="rect">
            <a:avLst/>
          </a:prstGeom>
          <a:noFill/>
        </p:spPr>
        <p:txBody>
          <a:bodyPr wrap="square" anchor="ctr" lIns="0" rIns="0" tIns="0" bIns="0">
            <a:noAutofit/>
          </a:bodyPr>
          <a:lstStyle/>
          <a:p>
            <a:pPr algn="l">
              <a:lnSpc>
                <a:spcPct val="105000"/>
              </a:lnSpc>
              <a:spcBef>
                <a:spcPts val="0"/>
              </a:spcBef>
              <a:spcAft>
                <a:spcPts val="0"/>
              </a:spcAft>
            </a:pPr>
            <a:r>
              <a:rPr sz="950" b="1" i="0">
                <a:solidFill>
                  <a:srgbClr val="6B4700"/>
                </a:solidFill>
                <a:latin typeface="Calibri"/>
              </a:rPr>
              <a:t>VEILLE  ·  </a:t>
            </a:r>
            <a:r>
              <a:rPr sz="1050" b="0" i="0">
                <a:solidFill>
                  <a:srgbClr val="141413"/>
                </a:solidFill>
                <a:latin typeface="Calibri"/>
              </a:rPr>
              <a:t>si la baisse de 2024-2025 se répétait, l’investissement tomberait à 13,3 % en 2026, sous le seuil : c’est une alerte, pas une prévision (la série monte et descend par cycles).</a:t>
            </a:r>
          </a:p>
        </p:txBody>
      </p:sp>
      <p:sp>
        <p:nvSpPr>
          <p:cNvPr id="43" name="TextBox 42"/>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44" name="TextBox 43"/>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04 · OFFRE FINANCIÈRE</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5</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Le mobile money est dans chaque commune, l’agence financière non</a:t>
            </a:r>
          </a:p>
        </p:txBody>
      </p:sp>
      <p:sp>
        <p:nvSpPr>
          <p:cNvPr id="8" name="Rounded Rectangle 7"/>
          <p:cNvSpPr/>
          <p:nvPr/>
        </p:nvSpPr>
        <p:spPr>
          <a:xfrm>
            <a:off x="502920"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68363" y="1581912"/>
            <a:ext cx="615552" cy="201168"/>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0D366B"/>
                </a:solidFill>
                <a:latin typeface="Calibri"/>
              </a:rPr>
              <a:t>Partout</a:t>
            </a:r>
          </a:p>
        </p:txBody>
      </p:sp>
      <p:sp>
        <p:nvSpPr>
          <p:cNvPr id="10" name="TextBox 9"/>
          <p:cNvSpPr txBox="1"/>
          <p:nvPr/>
        </p:nvSpPr>
        <p:spPr>
          <a:xfrm>
            <a:off x="667512" y="1600200"/>
            <a:ext cx="1627699"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MOBILE MONEY</a:t>
            </a:r>
          </a:p>
        </p:txBody>
      </p:sp>
      <p:sp>
        <p:nvSpPr>
          <p:cNvPr id="11" name="TextBox 10"/>
          <p:cNvSpPr txBox="1"/>
          <p:nvPr/>
        </p:nvSpPr>
        <p:spPr>
          <a:xfrm>
            <a:off x="667512"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CB4B0C"/>
                </a:solidFill>
                <a:latin typeface="Cambria"/>
              </a:rPr>
              <a:t>117 / 117</a:t>
            </a:r>
          </a:p>
        </p:txBody>
      </p:sp>
      <p:sp>
        <p:nvSpPr>
          <p:cNvPr id="12" name="TextBox 11"/>
          <p:cNvSpPr txBox="1"/>
          <p:nvPr/>
        </p:nvSpPr>
        <p:spPr>
          <a:xfrm>
            <a:off x="667512"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communes ont le mobile money</a:t>
            </a:r>
          </a:p>
        </p:txBody>
      </p:sp>
      <p:sp>
        <p:nvSpPr>
          <p:cNvPr id="13" name="TextBox 12"/>
          <p:cNvSpPr txBox="1"/>
          <p:nvPr/>
        </p:nvSpPr>
        <p:spPr>
          <a:xfrm>
            <a:off x="667512"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19 788 points recensés en 2021/2022</a:t>
            </a:r>
          </a:p>
        </p:txBody>
      </p:sp>
      <p:sp>
        <p:nvSpPr>
          <p:cNvPr id="14" name="Rounded Rectangle 13"/>
          <p:cNvSpPr/>
          <p:nvPr/>
        </p:nvSpPr>
        <p:spPr>
          <a:xfrm>
            <a:off x="3349675"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59114" y="1581912"/>
            <a:ext cx="771556"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Concentré</a:t>
            </a:r>
          </a:p>
        </p:txBody>
      </p:sp>
      <p:sp>
        <p:nvSpPr>
          <p:cNvPr id="16" name="TextBox 15"/>
          <p:cNvSpPr txBox="1"/>
          <p:nvPr/>
        </p:nvSpPr>
        <p:spPr>
          <a:xfrm>
            <a:off x="3514267" y="1600200"/>
            <a:ext cx="1471695"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GRAND LOMÉ</a:t>
            </a:r>
          </a:p>
        </p:txBody>
      </p:sp>
      <p:sp>
        <p:nvSpPr>
          <p:cNvPr id="17" name="TextBox 16"/>
          <p:cNvSpPr txBox="1"/>
          <p:nvPr/>
        </p:nvSpPr>
        <p:spPr>
          <a:xfrm>
            <a:off x="3514267"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0D366B"/>
                </a:solidFill>
                <a:latin typeface="Cambria"/>
              </a:rPr>
              <a:t>39,9 %</a:t>
            </a:r>
          </a:p>
        </p:txBody>
      </p:sp>
      <p:sp>
        <p:nvSpPr>
          <p:cNvPr id="18" name="TextBox 17"/>
          <p:cNvSpPr txBox="1"/>
          <p:nvPr/>
        </p:nvSpPr>
        <p:spPr>
          <a:xfrm>
            <a:off x="3514267"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des agences financières</a:t>
            </a:r>
          </a:p>
        </p:txBody>
      </p:sp>
      <p:sp>
        <p:nvSpPr>
          <p:cNvPr id="19" name="TextBox 18"/>
          <p:cNvSpPr txBox="1"/>
          <p:nvPr/>
        </p:nvSpPr>
        <p:spPr>
          <a:xfrm>
            <a:off x="3514267"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pour 27,0 % de la population et 0,7 % du territoire</a:t>
            </a:r>
          </a:p>
        </p:txBody>
      </p:sp>
      <p:sp>
        <p:nvSpPr>
          <p:cNvPr id="20" name="Rounded Rectangle 19"/>
          <p:cNvSpPr/>
          <p:nvPr/>
        </p:nvSpPr>
        <p:spPr>
          <a:xfrm>
            <a:off x="6196431"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03790" y="1581912"/>
            <a:ext cx="873636"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Usage faible</a:t>
            </a:r>
          </a:p>
        </p:txBody>
      </p:sp>
      <p:sp>
        <p:nvSpPr>
          <p:cNvPr id="22" name="TextBox 21"/>
          <p:cNvSpPr txBox="1"/>
          <p:nvPr/>
        </p:nvSpPr>
        <p:spPr>
          <a:xfrm>
            <a:off x="6361023" y="1600200"/>
            <a:ext cx="1369614"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COMPTES (2024)</a:t>
            </a:r>
          </a:p>
        </p:txBody>
      </p:sp>
      <p:sp>
        <p:nvSpPr>
          <p:cNvPr id="23" name="TextBox 22"/>
          <p:cNvSpPr txBox="1"/>
          <p:nvPr/>
        </p:nvSpPr>
        <p:spPr>
          <a:xfrm>
            <a:off x="6361023"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48,3 %</a:t>
            </a:r>
          </a:p>
        </p:txBody>
      </p:sp>
      <p:sp>
        <p:nvSpPr>
          <p:cNvPr id="24" name="TextBox 23"/>
          <p:cNvSpPr txBox="1"/>
          <p:nvPr/>
        </p:nvSpPr>
        <p:spPr>
          <a:xfrm>
            <a:off x="6361023"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des comptes mobile money servent</a:t>
            </a:r>
          </a:p>
        </p:txBody>
      </p:sp>
      <p:sp>
        <p:nvSpPr>
          <p:cNvPr id="25" name="TextBox 24"/>
          <p:cNvSpPr txBox="1"/>
          <p:nvPr/>
        </p:nvSpPr>
        <p:spPr>
          <a:xfrm>
            <a:off x="6361023"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48 % des adultes ont un compte ; actif : une opération en 90 jours</a:t>
            </a:r>
          </a:p>
        </p:txBody>
      </p:sp>
      <p:sp>
        <p:nvSpPr>
          <p:cNvPr id="26" name="Rounded Rectangle 25"/>
          <p:cNvSpPr/>
          <p:nvPr/>
        </p:nvSpPr>
        <p:spPr>
          <a:xfrm>
            <a:off x="9043187" y="1463040"/>
            <a:ext cx="2645587" cy="1463040"/>
          </a:xfrm>
          <a:prstGeom prst="roundRect">
            <a:avLst>
              <a:gd name="adj" fmla="val 750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794473" y="1581912"/>
            <a:ext cx="729709"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Régressif</a:t>
            </a:r>
          </a:p>
        </p:txBody>
      </p:sp>
      <p:sp>
        <p:nvSpPr>
          <p:cNvPr id="28" name="TextBox 27"/>
          <p:cNvSpPr txBox="1"/>
          <p:nvPr/>
        </p:nvSpPr>
        <p:spPr>
          <a:xfrm>
            <a:off x="9207779" y="1600200"/>
            <a:ext cx="1513542"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FRAIS DE RETRAIT</a:t>
            </a:r>
          </a:p>
        </p:txBody>
      </p:sp>
      <p:sp>
        <p:nvSpPr>
          <p:cNvPr id="29" name="TextBox 28"/>
          <p:cNvSpPr txBox="1"/>
          <p:nvPr/>
        </p:nvSpPr>
        <p:spPr>
          <a:xfrm>
            <a:off x="9207779" y="1828800"/>
            <a:ext cx="2316403"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8A1C1B"/>
                </a:solidFill>
                <a:latin typeface="Cambria"/>
              </a:rPr>
              <a:t>7,5 %</a:t>
            </a:r>
          </a:p>
        </p:txBody>
      </p:sp>
      <p:sp>
        <p:nvSpPr>
          <p:cNvPr id="30" name="TextBox 29"/>
          <p:cNvSpPr txBox="1"/>
          <p:nvPr/>
        </p:nvSpPr>
        <p:spPr>
          <a:xfrm>
            <a:off x="9207779" y="2267712"/>
            <a:ext cx="2316403"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pour retirer 1 000 FCFA</a:t>
            </a:r>
          </a:p>
        </p:txBody>
      </p:sp>
      <p:sp>
        <p:nvSpPr>
          <p:cNvPr id="31" name="TextBox 30"/>
          <p:cNvSpPr txBox="1"/>
          <p:nvPr/>
        </p:nvSpPr>
        <p:spPr>
          <a:xfrm>
            <a:off x="9207779" y="2491739"/>
            <a:ext cx="2316403" cy="36118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1,0 % pour 100 000 FCFA ; repère : 3 %</a:t>
            </a:r>
          </a:p>
        </p:txBody>
      </p:sp>
      <p:sp>
        <p:nvSpPr>
          <p:cNvPr id="32" name="Rounded Rectangle 31"/>
          <p:cNvSpPr/>
          <p:nvPr/>
        </p:nvSpPr>
        <p:spPr>
          <a:xfrm>
            <a:off x="502920" y="3090672"/>
            <a:ext cx="6720840" cy="2578608"/>
          </a:xfrm>
          <a:prstGeom prst="roundRect">
            <a:avLst>
              <a:gd name="adj" fmla="val 4255"/>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3218688"/>
            <a:ext cx="6318503"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Population, agences financières et points mobile money, par milieu</a:t>
            </a:r>
          </a:p>
        </p:txBody>
      </p:sp>
      <p:pic>
        <p:nvPicPr>
          <p:cNvPr id="34" name="Picture 33" descr="offre.png"/>
          <p:cNvPicPr>
            <a:picLocks noChangeAspect="1"/>
          </p:cNvPicPr>
          <p:nvPr/>
        </p:nvPicPr>
        <p:blipFill>
          <a:blip r:embed="rId3"/>
          <a:stretch>
            <a:fillRect/>
          </a:stretch>
        </p:blipFill>
        <p:spPr>
          <a:xfrm>
            <a:off x="1193460" y="3511296"/>
            <a:ext cx="5339759" cy="2066543"/>
          </a:xfrm>
          <a:prstGeom prst="rect">
            <a:avLst/>
          </a:prstGeom>
        </p:spPr>
      </p:pic>
      <p:sp>
        <p:nvSpPr>
          <p:cNvPr id="35" name="TextBox 34"/>
          <p:cNvSpPr txBox="1"/>
          <p:nvPr/>
        </p:nvSpPr>
        <p:spPr>
          <a:xfrm>
            <a:off x="7452359" y="3090672"/>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CONSTAT CLÉ</a:t>
            </a:r>
          </a:p>
        </p:txBody>
      </p:sp>
      <p:sp>
        <p:nvSpPr>
          <p:cNvPr id="36" name="Rounded Rectangle 35"/>
          <p:cNvSpPr/>
          <p:nvPr/>
        </p:nvSpPr>
        <p:spPr>
          <a:xfrm>
            <a:off x="7452359" y="3346704"/>
            <a:ext cx="4236415" cy="969263"/>
          </a:xfrm>
          <a:prstGeom prst="roundRect">
            <a:avLst>
              <a:gd name="adj" fmla="val 11320"/>
            </a:avLst>
          </a:prstGeom>
          <a:solidFill>
            <a:srgbClr val="E8F0FB"/>
          </a:solidFill>
          <a:ln w="9525">
            <a:solidFill>
              <a:srgbClr val="C7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53527" y="3456432"/>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Les communes rurales abritent </a:t>
            </a:r>
            <a:r>
              <a:rPr sz="1100" b="1" i="0">
                <a:solidFill>
                  <a:srgbClr val="1C5CAB"/>
                </a:solidFill>
                <a:latin typeface="Calibri"/>
              </a:rPr>
              <a:t>56,9 %</a:t>
            </a:r>
            <a:r>
              <a:rPr sz="1100" b="1" i="0">
                <a:solidFill>
                  <a:srgbClr val="141413"/>
                </a:solidFill>
                <a:latin typeface="Calibri"/>
              </a:rPr>
              <a:t> de la population, mais </a:t>
            </a:r>
            <a:r>
              <a:rPr sz="1100" b="1" i="0">
                <a:solidFill>
                  <a:srgbClr val="0D366B"/>
                </a:solidFill>
                <a:latin typeface="Calibri"/>
              </a:rPr>
              <a:t>37,2 %</a:t>
            </a:r>
            <a:r>
              <a:rPr sz="1100" b="1" i="0">
                <a:solidFill>
                  <a:srgbClr val="141413"/>
                </a:solidFill>
                <a:latin typeface="Calibri"/>
              </a:rPr>
              <a:t> des agences et </a:t>
            </a:r>
            <a:r>
              <a:rPr sz="1100" b="1" i="0">
                <a:solidFill>
                  <a:srgbClr val="CB4B0C"/>
                </a:solidFill>
                <a:latin typeface="Calibri"/>
              </a:rPr>
              <a:t>36,5 %</a:t>
            </a:r>
            <a:r>
              <a:rPr sz="1100" b="1" i="0">
                <a:solidFill>
                  <a:srgbClr val="141413"/>
                </a:solidFill>
                <a:latin typeface="Calibri"/>
              </a:rPr>
              <a:t> des points mobile money. L’écart : le mobile money est partout, l’agence manque dans 22 communes.</a:t>
            </a:r>
          </a:p>
        </p:txBody>
      </p:sp>
      <p:sp>
        <p:nvSpPr>
          <p:cNvPr id="38" name="TextBox 37"/>
          <p:cNvSpPr txBox="1"/>
          <p:nvPr/>
        </p:nvSpPr>
        <p:spPr>
          <a:xfrm>
            <a:off x="7452359" y="4443984"/>
            <a:ext cx="423641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ENJEU POUR L’ACTION PUBLIQUE</a:t>
            </a:r>
          </a:p>
        </p:txBody>
      </p:sp>
      <p:sp>
        <p:nvSpPr>
          <p:cNvPr id="39" name="Rounded Rectangle 38"/>
          <p:cNvSpPr/>
          <p:nvPr/>
        </p:nvSpPr>
        <p:spPr>
          <a:xfrm>
            <a:off x="7452359" y="4700016"/>
            <a:ext cx="4236415" cy="969263"/>
          </a:xfrm>
          <a:prstGeom prst="roundRect">
            <a:avLst>
              <a:gd name="adj" fmla="val 11320"/>
            </a:avLst>
          </a:prstGeom>
          <a:solidFill>
            <a:srgbClr val="E2F4EC"/>
          </a:solidFill>
          <a:ln w="9525">
            <a:solidFill>
              <a:srgbClr val="BFE3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53527" y="4809744"/>
            <a:ext cx="3834079" cy="749807"/>
          </a:xfrm>
          <a:prstGeom prst="rect">
            <a:avLst/>
          </a:prstGeom>
          <a:noFill/>
        </p:spPr>
        <p:txBody>
          <a:bodyPr wrap="square" anchor="ctr" lIns="0" rIns="0" tIns="0" bIns="0">
            <a:noAutofit/>
          </a:bodyPr>
          <a:lstStyle/>
          <a:p>
            <a:pPr algn="l">
              <a:lnSpc>
                <a:spcPct val="112000"/>
              </a:lnSpc>
              <a:spcBef>
                <a:spcPts val="0"/>
              </a:spcBef>
              <a:spcAft>
                <a:spcPts val="0"/>
              </a:spcAft>
            </a:pPr>
            <a:r>
              <a:rPr sz="1100" b="1" i="0">
                <a:solidFill>
                  <a:srgbClr val="141413"/>
                </a:solidFill>
                <a:latin typeface="Calibri"/>
              </a:rPr>
              <a:t>Rapprocher l’agence financière du mobile money, déjà présent partout, et rendre les petites opérations moins chères : retirer 1 000 FCFA coûte 75 FCFA.</a:t>
            </a:r>
          </a:p>
        </p:txBody>
      </p:sp>
      <p:sp>
        <p:nvSpPr>
          <p:cNvPr id="41" name="Rounded Rectangle 40"/>
          <p:cNvSpPr/>
          <p:nvPr/>
        </p:nvSpPr>
        <p:spPr>
          <a:xfrm>
            <a:off x="502920" y="5779008"/>
            <a:ext cx="11185855" cy="530352"/>
          </a:xfrm>
          <a:prstGeom prst="roundRect">
            <a:avLst>
              <a:gd name="adj" fmla="val 17241"/>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 y="5833872"/>
            <a:ext cx="10710367" cy="420623"/>
          </a:xfrm>
          <a:prstGeom prst="rect">
            <a:avLst/>
          </a:prstGeom>
          <a:noFill/>
        </p:spPr>
        <p:txBody>
          <a:bodyPr wrap="square" anchor="ctr" lIns="0" rIns="0" tIns="0" bIns="0">
            <a:noAutofit/>
          </a:bodyPr>
          <a:lstStyle/>
          <a:p>
            <a:pPr algn="l">
              <a:lnSpc>
                <a:spcPct val="105000"/>
              </a:lnSpc>
              <a:spcBef>
                <a:spcPts val="0"/>
              </a:spcBef>
              <a:spcAft>
                <a:spcPts val="0"/>
              </a:spcAft>
            </a:pPr>
            <a:r>
              <a:rPr sz="950" b="1" i="0">
                <a:solidFill>
                  <a:srgbClr val="6B4700"/>
                </a:solidFill>
                <a:latin typeface="Calibri"/>
              </a:rPr>
              <a:t>À SAVOIR  ·  </a:t>
            </a:r>
            <a:r>
              <a:rPr sz="1050" b="0" i="0">
                <a:solidFill>
                  <a:srgbClr val="141413"/>
                </a:solidFill>
                <a:latin typeface="Calibri"/>
              </a:rPr>
              <a:t>recensement de 2021/2022 : des lieux, pas des agents ni des transactions. L’usage du mobile money n’est connu que pour le pays et les régions, jamais commune par commune.</a:t>
            </a:r>
          </a:p>
        </p:txBody>
      </p:sp>
      <p:sp>
        <p:nvSpPr>
          <p:cNvPr id="43" name="TextBox 42"/>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44" name="TextBox 43"/>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05 · DÉFICITS</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6</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Quel problème faut-il résoudre ?</a:t>
            </a:r>
          </a:p>
        </p:txBody>
      </p:sp>
      <p:sp>
        <p:nvSpPr>
          <p:cNvPr id="8" name="TextBox 7"/>
          <p:cNvSpPr txBox="1"/>
          <p:nvPr/>
        </p:nvSpPr>
        <p:spPr>
          <a:xfrm>
            <a:off x="502920" y="1371600"/>
            <a:ext cx="11185855" cy="256032"/>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55534E"/>
                </a:solidFill>
                <a:latin typeface="Calibri"/>
              </a:rPr>
              <a:t>Trois manques distincts, qui appellent trois actions distinctes.</a:t>
            </a:r>
          </a:p>
        </p:txBody>
      </p:sp>
      <p:sp>
        <p:nvSpPr>
          <p:cNvPr id="9" name="Rounded Rectangle 8"/>
          <p:cNvSpPr/>
          <p:nvPr/>
        </p:nvSpPr>
        <p:spPr>
          <a:xfrm>
            <a:off x="502920" y="1792224"/>
            <a:ext cx="3246120" cy="4517136"/>
          </a:xfrm>
          <a:prstGeom prst="roundRect">
            <a:avLst>
              <a:gd name="adj" fmla="val 338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20240"/>
            <a:ext cx="2843784"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Les communes selon leur accès</a:t>
            </a:r>
          </a:p>
        </p:txBody>
      </p:sp>
      <p:sp>
        <p:nvSpPr>
          <p:cNvPr id="11" name="TextBox 10"/>
          <p:cNvSpPr txBox="1"/>
          <p:nvPr/>
        </p:nvSpPr>
        <p:spPr>
          <a:xfrm>
            <a:off x="704088" y="2176272"/>
            <a:ext cx="2843784" cy="20116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55534E"/>
                </a:solidFill>
                <a:latin typeface="Calibri"/>
              </a:rPr>
              <a:t>agences financières et mobile money</a:t>
            </a:r>
          </a:p>
        </p:txBody>
      </p:sp>
      <p:pic>
        <p:nvPicPr>
          <p:cNvPr id="12" name="Picture 11" descr="carte_communes.png"/>
          <p:cNvPicPr>
            <a:picLocks noChangeAspect="1"/>
          </p:cNvPicPr>
          <p:nvPr/>
        </p:nvPicPr>
        <p:blipFill>
          <a:blip r:embed="rId3"/>
          <a:stretch>
            <a:fillRect/>
          </a:stretch>
        </p:blipFill>
        <p:spPr>
          <a:xfrm>
            <a:off x="833179" y="2395728"/>
            <a:ext cx="2585600" cy="3822192"/>
          </a:xfrm>
          <a:prstGeom prst="rect">
            <a:avLst/>
          </a:prstGeom>
        </p:spPr>
      </p:pic>
      <p:sp>
        <p:nvSpPr>
          <p:cNvPr id="13" name="Rounded Rectangle 12"/>
          <p:cNvSpPr/>
          <p:nvPr/>
        </p:nvSpPr>
        <p:spPr>
          <a:xfrm>
            <a:off x="3986783" y="1792224"/>
            <a:ext cx="2445410" cy="1572768"/>
          </a:xfrm>
          <a:prstGeom prst="roundRect">
            <a:avLst>
              <a:gd name="adj" fmla="val 6976"/>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14060" y="1911095"/>
            <a:ext cx="1053542" cy="201168"/>
          </a:xfrm>
          <a:prstGeom prst="roundRect">
            <a:avLst>
              <a:gd name="adj" fmla="val 50000"/>
            </a:avLst>
          </a:prstGeom>
          <a:solidFill>
            <a:srgbClr val="FBE3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8A1C1B"/>
                </a:solidFill>
                <a:latin typeface="Calibri"/>
              </a:rPr>
              <a:t>Priorité absolue</a:t>
            </a:r>
          </a:p>
        </p:txBody>
      </p:sp>
      <p:sp>
        <p:nvSpPr>
          <p:cNvPr id="15" name="TextBox 14"/>
          <p:cNvSpPr txBox="1"/>
          <p:nvPr/>
        </p:nvSpPr>
        <p:spPr>
          <a:xfrm>
            <a:off x="4151375" y="1929384"/>
            <a:ext cx="989532"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SANS AGENCE</a:t>
            </a:r>
          </a:p>
        </p:txBody>
      </p:sp>
      <p:sp>
        <p:nvSpPr>
          <p:cNvPr id="16" name="TextBox 15"/>
          <p:cNvSpPr txBox="1"/>
          <p:nvPr/>
        </p:nvSpPr>
        <p:spPr>
          <a:xfrm>
            <a:off x="4151375" y="2157984"/>
            <a:ext cx="2116226"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8A1C1B"/>
                </a:solidFill>
                <a:latin typeface="Cambria"/>
              </a:rPr>
              <a:t>22</a:t>
            </a:r>
            <a:r>
              <a:rPr sz="1200" b="1" i="0">
                <a:solidFill>
                  <a:srgbClr val="8A1C1B"/>
                </a:solidFill>
                <a:latin typeface="Calibri"/>
              </a:rPr>
              <a:t> communes</a:t>
            </a:r>
          </a:p>
        </p:txBody>
      </p:sp>
      <p:sp>
        <p:nvSpPr>
          <p:cNvPr id="17" name="TextBox 16"/>
          <p:cNvSpPr txBox="1"/>
          <p:nvPr/>
        </p:nvSpPr>
        <p:spPr>
          <a:xfrm>
            <a:off x="4151375" y="2596896"/>
            <a:ext cx="2116226" cy="178307"/>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sans aucune agence financière</a:t>
            </a:r>
          </a:p>
        </p:txBody>
      </p:sp>
      <p:sp>
        <p:nvSpPr>
          <p:cNvPr id="18" name="TextBox 17"/>
          <p:cNvSpPr txBox="1"/>
          <p:nvPr/>
        </p:nvSpPr>
        <p:spPr>
          <a:xfrm>
            <a:off x="4151375" y="2820923"/>
            <a:ext cx="2116226" cy="470916"/>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759 599 habitants, toutes rurales</a:t>
            </a:r>
          </a:p>
        </p:txBody>
      </p:sp>
      <p:sp>
        <p:nvSpPr>
          <p:cNvPr id="19" name="Rounded Rectangle 18"/>
          <p:cNvSpPr/>
          <p:nvPr/>
        </p:nvSpPr>
        <p:spPr>
          <a:xfrm>
            <a:off x="6615074" y="1792224"/>
            <a:ext cx="2445410" cy="1572768"/>
          </a:xfrm>
          <a:prstGeom prst="roundRect">
            <a:avLst>
              <a:gd name="adj" fmla="val 6976"/>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9666" y="1929384"/>
            <a:ext cx="2116226"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AGENCE RARE</a:t>
            </a:r>
          </a:p>
        </p:txBody>
      </p:sp>
      <p:sp>
        <p:nvSpPr>
          <p:cNvPr id="21" name="TextBox 20"/>
          <p:cNvSpPr txBox="1"/>
          <p:nvPr/>
        </p:nvSpPr>
        <p:spPr>
          <a:xfrm>
            <a:off x="6779666" y="2157984"/>
            <a:ext cx="2116226"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4A3AA7"/>
                </a:solidFill>
                <a:latin typeface="Cambria"/>
              </a:rPr>
              <a:t>66</a:t>
            </a:r>
            <a:r>
              <a:rPr sz="1200" b="1" i="0">
                <a:solidFill>
                  <a:srgbClr val="4A3AA7"/>
                </a:solidFill>
                <a:latin typeface="Calibri"/>
              </a:rPr>
              <a:t> communes</a:t>
            </a:r>
          </a:p>
        </p:txBody>
      </p:sp>
      <p:sp>
        <p:nvSpPr>
          <p:cNvPr id="22" name="TextBox 21"/>
          <p:cNvSpPr txBox="1"/>
          <p:nvPr/>
        </p:nvSpPr>
        <p:spPr>
          <a:xfrm>
            <a:off x="6779666" y="2596896"/>
            <a:ext cx="2116226" cy="33832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où le mobile money remplace presque l’agence</a:t>
            </a:r>
          </a:p>
        </p:txBody>
      </p:sp>
      <p:sp>
        <p:nvSpPr>
          <p:cNvPr id="23" name="TextBox 22"/>
          <p:cNvSpPr txBox="1"/>
          <p:nvPr/>
        </p:nvSpPr>
        <p:spPr>
          <a:xfrm>
            <a:off x="6779666" y="2980944"/>
            <a:ext cx="2116226" cy="310895"/>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plus de 20 points par agence ; 65,4 % de la population</a:t>
            </a:r>
          </a:p>
        </p:txBody>
      </p:sp>
      <p:sp>
        <p:nvSpPr>
          <p:cNvPr id="24" name="Rounded Rectangle 23"/>
          <p:cNvSpPr/>
          <p:nvPr/>
        </p:nvSpPr>
        <p:spPr>
          <a:xfrm>
            <a:off x="9243364" y="1792224"/>
            <a:ext cx="2445410" cy="1572768"/>
          </a:xfrm>
          <a:prstGeom prst="roundRect">
            <a:avLst>
              <a:gd name="adj" fmla="val 6976"/>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680603" y="1911095"/>
            <a:ext cx="843579" cy="201168"/>
          </a:xfrm>
          <a:prstGeom prst="roundRect">
            <a:avLst>
              <a:gd name="adj" fmla="val 50000"/>
            </a:avLst>
          </a:prstGeom>
          <a:solidFill>
            <a:srgbClr val="EF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3A3935"/>
                </a:solidFill>
                <a:latin typeface="Calibri"/>
              </a:rPr>
              <a:t>À confirmer</a:t>
            </a:r>
          </a:p>
        </p:txBody>
      </p:sp>
      <p:sp>
        <p:nvSpPr>
          <p:cNvPr id="26" name="TextBox 25"/>
          <p:cNvSpPr txBox="1"/>
          <p:nvPr/>
        </p:nvSpPr>
        <p:spPr>
          <a:xfrm>
            <a:off x="9407956" y="1929384"/>
            <a:ext cx="1199494"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RÉSEAU FAIBLE</a:t>
            </a:r>
          </a:p>
        </p:txBody>
      </p:sp>
      <p:sp>
        <p:nvSpPr>
          <p:cNvPr id="27" name="TextBox 26"/>
          <p:cNvSpPr txBox="1"/>
          <p:nvPr/>
        </p:nvSpPr>
        <p:spPr>
          <a:xfrm>
            <a:off x="9407956" y="2157984"/>
            <a:ext cx="2116226"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141413"/>
                </a:solidFill>
                <a:latin typeface="Cambria"/>
              </a:rPr>
              <a:t>8</a:t>
            </a:r>
            <a:r>
              <a:rPr sz="1200" b="1" i="0">
                <a:solidFill>
                  <a:srgbClr val="141413"/>
                </a:solidFill>
                <a:latin typeface="Calibri"/>
              </a:rPr>
              <a:t> communes</a:t>
            </a:r>
          </a:p>
        </p:txBody>
      </p:sp>
      <p:sp>
        <p:nvSpPr>
          <p:cNvPr id="28" name="TextBox 27"/>
          <p:cNvSpPr txBox="1"/>
          <p:nvPr/>
        </p:nvSpPr>
        <p:spPr>
          <a:xfrm>
            <a:off x="9407956" y="2596896"/>
            <a:ext cx="2116226" cy="33832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mobile money seul ou dominant, couverture sous 50 %</a:t>
            </a:r>
          </a:p>
        </p:txBody>
      </p:sp>
      <p:sp>
        <p:nvSpPr>
          <p:cNvPr id="29" name="TextBox 28"/>
          <p:cNvSpPr txBox="1"/>
          <p:nvPr/>
        </p:nvSpPr>
        <p:spPr>
          <a:xfrm>
            <a:off x="9407956" y="2980944"/>
            <a:ext cx="2116226" cy="310895"/>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3A3935"/>
                </a:solidFill>
                <a:latin typeface="Calibri"/>
              </a:rPr>
              <a:t>368 534 habitants</a:t>
            </a:r>
          </a:p>
        </p:txBody>
      </p:sp>
      <p:sp>
        <p:nvSpPr>
          <p:cNvPr id="30" name="TextBox 29"/>
          <p:cNvSpPr txBox="1"/>
          <p:nvPr/>
        </p:nvSpPr>
        <p:spPr>
          <a:xfrm>
            <a:off x="3986783" y="3529584"/>
            <a:ext cx="7701991"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TROIS MANQUES → TROIS ACTIONS</a:t>
            </a:r>
          </a:p>
        </p:txBody>
      </p:sp>
      <p:sp>
        <p:nvSpPr>
          <p:cNvPr id="31" name="Rounded Rectangle 30"/>
          <p:cNvSpPr/>
          <p:nvPr/>
        </p:nvSpPr>
        <p:spPr>
          <a:xfrm>
            <a:off x="3986783" y="3785615"/>
            <a:ext cx="7701991" cy="256032"/>
          </a:xfrm>
          <a:prstGeom prst="roundRect">
            <a:avLst>
              <a:gd name="adj" fmla="val 21428"/>
            </a:avLst>
          </a:prstGeom>
          <a:solidFill>
            <a:srgbClr val="EF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9" y="3785615"/>
            <a:ext cx="2029967"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Manque</a:t>
            </a:r>
          </a:p>
        </p:txBody>
      </p:sp>
      <p:sp>
        <p:nvSpPr>
          <p:cNvPr id="33" name="TextBox 32"/>
          <p:cNvSpPr txBox="1"/>
          <p:nvPr/>
        </p:nvSpPr>
        <p:spPr>
          <a:xfrm>
            <a:off x="6217919" y="3785615"/>
            <a:ext cx="2258568"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Où</a:t>
            </a:r>
          </a:p>
        </p:txBody>
      </p:sp>
      <p:sp>
        <p:nvSpPr>
          <p:cNvPr id="34" name="TextBox 33"/>
          <p:cNvSpPr txBox="1"/>
          <p:nvPr/>
        </p:nvSpPr>
        <p:spPr>
          <a:xfrm>
            <a:off x="8549639" y="3785615"/>
            <a:ext cx="886968" cy="256032"/>
          </a:xfrm>
          <a:prstGeom prst="rect">
            <a:avLst/>
          </a:prstGeom>
          <a:noFill/>
        </p:spPr>
        <p:txBody>
          <a:bodyPr wrap="square" anchor="ctr" lIns="0" rIns="0" tIns="0" bIns="0">
            <a:noAutofit/>
          </a:bodyPr>
          <a:lstStyle/>
          <a:p>
            <a:pPr algn="r">
              <a:lnSpc>
                <a:spcPct val="100000"/>
              </a:lnSpc>
              <a:spcBef>
                <a:spcPts val="0"/>
              </a:spcBef>
              <a:spcAft>
                <a:spcPts val="0"/>
              </a:spcAft>
            </a:pPr>
            <a:r>
              <a:rPr sz="850" b="1" i="0">
                <a:solidFill>
                  <a:srgbClr val="3A3935"/>
                </a:solidFill>
                <a:latin typeface="Calibri"/>
              </a:rPr>
              <a:t>Habitants</a:t>
            </a:r>
          </a:p>
        </p:txBody>
      </p:sp>
      <p:sp>
        <p:nvSpPr>
          <p:cNvPr id="35" name="TextBox 34"/>
          <p:cNvSpPr txBox="1"/>
          <p:nvPr/>
        </p:nvSpPr>
        <p:spPr>
          <a:xfrm>
            <a:off x="9509759" y="3785615"/>
            <a:ext cx="2105863"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Action à engager</a:t>
            </a:r>
          </a:p>
        </p:txBody>
      </p:sp>
      <p:sp>
        <p:nvSpPr>
          <p:cNvPr id="36" name="TextBox 35"/>
          <p:cNvSpPr txBox="1"/>
          <p:nvPr/>
        </p:nvSpPr>
        <p:spPr>
          <a:xfrm>
            <a:off x="4114799" y="4059935"/>
            <a:ext cx="2029967"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CB4B0C"/>
                </a:solidFill>
                <a:latin typeface="Calibri"/>
              </a:rPr>
              <a:t>Accès aux agences financières</a:t>
            </a:r>
          </a:p>
        </p:txBody>
      </p:sp>
      <p:sp>
        <p:nvSpPr>
          <p:cNvPr id="37" name="TextBox 36"/>
          <p:cNvSpPr txBox="1"/>
          <p:nvPr/>
        </p:nvSpPr>
        <p:spPr>
          <a:xfrm>
            <a:off x="6217919" y="4059935"/>
            <a:ext cx="2258568"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0" i="0">
                <a:solidFill>
                  <a:srgbClr val="141413"/>
                </a:solidFill>
                <a:latin typeface="Calibri"/>
              </a:rPr>
              <a:t>22 communes sans agence</a:t>
            </a:r>
          </a:p>
        </p:txBody>
      </p:sp>
      <p:sp>
        <p:nvSpPr>
          <p:cNvPr id="38" name="TextBox 37"/>
          <p:cNvSpPr txBox="1"/>
          <p:nvPr/>
        </p:nvSpPr>
        <p:spPr>
          <a:xfrm>
            <a:off x="8549639" y="4059935"/>
            <a:ext cx="886968" cy="457200"/>
          </a:xfrm>
          <a:prstGeom prst="rect">
            <a:avLst/>
          </a:prstGeom>
          <a:noFill/>
        </p:spPr>
        <p:txBody>
          <a:bodyPr wrap="square" anchor="ctr" lIns="0" rIns="0" tIns="0" bIns="0">
            <a:noAutofit/>
          </a:bodyPr>
          <a:lstStyle/>
          <a:p>
            <a:pPr algn="r">
              <a:lnSpc>
                <a:spcPct val="95000"/>
              </a:lnSpc>
              <a:spcBef>
                <a:spcPts val="0"/>
              </a:spcBef>
              <a:spcAft>
                <a:spcPts val="0"/>
              </a:spcAft>
            </a:pPr>
            <a:r>
              <a:rPr sz="1050" b="0" i="0">
                <a:solidFill>
                  <a:srgbClr val="141413"/>
                </a:solidFill>
                <a:latin typeface="Calibri"/>
              </a:rPr>
              <a:t>759 599</a:t>
            </a:r>
          </a:p>
        </p:txBody>
      </p:sp>
      <p:sp>
        <p:nvSpPr>
          <p:cNvPr id="39" name="TextBox 38"/>
          <p:cNvSpPr txBox="1"/>
          <p:nvPr/>
        </p:nvSpPr>
        <p:spPr>
          <a:xfrm>
            <a:off x="9509759" y="4059935"/>
            <a:ext cx="2105863"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141413"/>
                </a:solidFill>
                <a:latin typeface="Calibri"/>
              </a:rPr>
              <a:t>Ouvrir une première agence dans chacune</a:t>
            </a:r>
          </a:p>
        </p:txBody>
      </p:sp>
      <p:sp>
        <p:nvSpPr>
          <p:cNvPr id="40" name="Rectangle 39"/>
          <p:cNvSpPr/>
          <p:nvPr/>
        </p:nvSpPr>
        <p:spPr>
          <a:xfrm>
            <a:off x="4078223" y="4531766"/>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9" y="4553712"/>
            <a:ext cx="2029967"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11613F"/>
                </a:solidFill>
                <a:latin typeface="Calibri"/>
              </a:rPr>
              <a:t>Maillage mobile money</a:t>
            </a:r>
          </a:p>
        </p:txBody>
      </p:sp>
      <p:sp>
        <p:nvSpPr>
          <p:cNvPr id="42" name="TextBox 41"/>
          <p:cNvSpPr txBox="1"/>
          <p:nvPr/>
        </p:nvSpPr>
        <p:spPr>
          <a:xfrm>
            <a:off x="6217919" y="4553712"/>
            <a:ext cx="2258568"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0" i="0">
                <a:solidFill>
                  <a:srgbClr val="141413"/>
                </a:solidFill>
                <a:latin typeface="Calibri"/>
              </a:rPr>
              <a:t>3 communes et 8 préfectures au réseau mince</a:t>
            </a:r>
          </a:p>
        </p:txBody>
      </p:sp>
      <p:sp>
        <p:nvSpPr>
          <p:cNvPr id="43" name="TextBox 42"/>
          <p:cNvSpPr txBox="1"/>
          <p:nvPr/>
        </p:nvSpPr>
        <p:spPr>
          <a:xfrm>
            <a:off x="8549639" y="4553712"/>
            <a:ext cx="886968" cy="457200"/>
          </a:xfrm>
          <a:prstGeom prst="rect">
            <a:avLst/>
          </a:prstGeom>
          <a:noFill/>
        </p:spPr>
        <p:txBody>
          <a:bodyPr wrap="square" anchor="ctr" lIns="0" rIns="0" tIns="0" bIns="0">
            <a:noAutofit/>
          </a:bodyPr>
          <a:lstStyle/>
          <a:p>
            <a:pPr algn="r">
              <a:lnSpc>
                <a:spcPct val="95000"/>
              </a:lnSpc>
              <a:spcBef>
                <a:spcPts val="0"/>
              </a:spcBef>
              <a:spcAft>
                <a:spcPts val="0"/>
              </a:spcAft>
            </a:pPr>
            <a:r>
              <a:rPr sz="1050" b="0" i="0">
                <a:solidFill>
                  <a:srgbClr val="141413"/>
                </a:solidFill>
                <a:latin typeface="Calibri"/>
              </a:rPr>
              <a:t>1 092 725</a:t>
            </a:r>
          </a:p>
        </p:txBody>
      </p:sp>
      <p:sp>
        <p:nvSpPr>
          <p:cNvPr id="44" name="TextBox 43"/>
          <p:cNvSpPr txBox="1"/>
          <p:nvPr/>
        </p:nvSpPr>
        <p:spPr>
          <a:xfrm>
            <a:off x="9509759" y="4553712"/>
            <a:ext cx="2105863"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141413"/>
                </a:solidFill>
                <a:latin typeface="Calibri"/>
              </a:rPr>
              <a:t>Ajouter des points mobile money</a:t>
            </a:r>
          </a:p>
        </p:txBody>
      </p:sp>
      <p:sp>
        <p:nvSpPr>
          <p:cNvPr id="45" name="Rectangle 44"/>
          <p:cNvSpPr/>
          <p:nvPr/>
        </p:nvSpPr>
        <p:spPr>
          <a:xfrm>
            <a:off x="4078223" y="5025542"/>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799" y="5047488"/>
            <a:ext cx="2029967"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4A3AA7"/>
                </a:solidFill>
                <a:latin typeface="Calibri"/>
              </a:rPr>
              <a:t>Couverture réseau</a:t>
            </a:r>
          </a:p>
        </p:txBody>
      </p:sp>
      <p:sp>
        <p:nvSpPr>
          <p:cNvPr id="47" name="TextBox 46"/>
          <p:cNvSpPr txBox="1"/>
          <p:nvPr/>
        </p:nvSpPr>
        <p:spPr>
          <a:xfrm>
            <a:off x="6217919" y="5047488"/>
            <a:ext cx="2258568"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0" i="0">
                <a:solidFill>
                  <a:srgbClr val="141413"/>
                </a:solidFill>
                <a:latin typeface="Calibri"/>
              </a:rPr>
              <a:t>14 communes à mesurer ; 6 préfectures sous 85 %</a:t>
            </a:r>
          </a:p>
        </p:txBody>
      </p:sp>
      <p:sp>
        <p:nvSpPr>
          <p:cNvPr id="48" name="TextBox 47"/>
          <p:cNvSpPr txBox="1"/>
          <p:nvPr/>
        </p:nvSpPr>
        <p:spPr>
          <a:xfrm>
            <a:off x="8549639" y="5047488"/>
            <a:ext cx="886968" cy="457200"/>
          </a:xfrm>
          <a:prstGeom prst="rect">
            <a:avLst/>
          </a:prstGeom>
          <a:noFill/>
        </p:spPr>
        <p:txBody>
          <a:bodyPr wrap="square" anchor="ctr" lIns="0" rIns="0" tIns="0" bIns="0">
            <a:noAutofit/>
          </a:bodyPr>
          <a:lstStyle/>
          <a:p>
            <a:pPr algn="r">
              <a:lnSpc>
                <a:spcPct val="95000"/>
              </a:lnSpc>
              <a:spcBef>
                <a:spcPts val="0"/>
              </a:spcBef>
              <a:spcAft>
                <a:spcPts val="0"/>
              </a:spcAft>
            </a:pPr>
            <a:r>
              <a:rPr sz="1050" b="0" i="0">
                <a:solidFill>
                  <a:srgbClr val="141413"/>
                </a:solidFill>
                <a:latin typeface="Calibri"/>
              </a:rPr>
              <a:t>689 181</a:t>
            </a:r>
          </a:p>
        </p:txBody>
      </p:sp>
      <p:sp>
        <p:nvSpPr>
          <p:cNvPr id="49" name="TextBox 48"/>
          <p:cNvSpPr txBox="1"/>
          <p:nvPr/>
        </p:nvSpPr>
        <p:spPr>
          <a:xfrm>
            <a:off x="9509759" y="5047488"/>
            <a:ext cx="2105863" cy="457200"/>
          </a:xfrm>
          <a:prstGeom prst="rect">
            <a:avLst/>
          </a:prstGeom>
          <a:noFill/>
        </p:spPr>
        <p:txBody>
          <a:bodyPr wrap="square" anchor="ctr" lIns="0" rIns="0" tIns="0" bIns="0">
            <a:noAutofit/>
          </a:bodyPr>
          <a:lstStyle/>
          <a:p>
            <a:pPr algn="l">
              <a:lnSpc>
                <a:spcPct val="95000"/>
              </a:lnSpc>
              <a:spcBef>
                <a:spcPts val="0"/>
              </a:spcBef>
              <a:spcAft>
                <a:spcPts val="0"/>
              </a:spcAft>
            </a:pPr>
            <a:r>
              <a:rPr sz="1050" b="1" i="0">
                <a:solidFill>
                  <a:srgbClr val="141413"/>
                </a:solidFill>
                <a:latin typeface="Calibri"/>
              </a:rPr>
              <a:t>Mesurer, puis étendre le réseau</a:t>
            </a:r>
          </a:p>
        </p:txBody>
      </p:sp>
      <p:sp>
        <p:nvSpPr>
          <p:cNvPr id="50" name="Rounded Rectangle 49"/>
          <p:cNvSpPr/>
          <p:nvPr/>
        </p:nvSpPr>
        <p:spPr>
          <a:xfrm>
            <a:off x="3986783" y="5669280"/>
            <a:ext cx="7701991" cy="603504"/>
          </a:xfrm>
          <a:prstGeom prst="roundRect">
            <a:avLst>
              <a:gd name="adj" fmla="val 15151"/>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24527" y="5724144"/>
            <a:ext cx="7226503" cy="493776"/>
          </a:xfrm>
          <a:prstGeom prst="rect">
            <a:avLst/>
          </a:prstGeom>
          <a:noFill/>
        </p:spPr>
        <p:txBody>
          <a:bodyPr wrap="square" anchor="ctr" lIns="0" rIns="0" tIns="0" bIns="0">
            <a:noAutofit/>
          </a:bodyPr>
          <a:lstStyle/>
          <a:p>
            <a:pPr algn="l">
              <a:lnSpc>
                <a:spcPct val="105000"/>
              </a:lnSpc>
              <a:spcBef>
                <a:spcPts val="0"/>
              </a:spcBef>
              <a:spcAft>
                <a:spcPts val="0"/>
              </a:spcAft>
            </a:pPr>
            <a:r>
              <a:rPr sz="1000" b="1" i="0">
                <a:solidFill>
                  <a:srgbClr val="FCE588"/>
                </a:solidFill>
                <a:latin typeface="Calibri"/>
              </a:rPr>
              <a:t>LE TRAIT COMMUN : LA DISTANCE  ·  </a:t>
            </a:r>
            <a:r>
              <a:rPr sz="1100" b="1" i="0">
                <a:solidFill>
                  <a:srgbClr val="FFFFFF"/>
                </a:solidFill>
                <a:latin typeface="Calibri"/>
              </a:rPr>
              <a:t>dans les préfectures en priorité haute, </a:t>
            </a:r>
            <a:r>
              <a:rPr sz="1100" b="1" i="0">
                <a:solidFill>
                  <a:srgbClr val="FCE588"/>
                </a:solidFill>
                <a:latin typeface="Calibri"/>
              </a:rPr>
              <a:t>39 %</a:t>
            </a:r>
            <a:r>
              <a:rPr sz="1100" b="1" i="0">
                <a:solidFill>
                  <a:srgbClr val="FFFFFF"/>
                </a:solidFill>
                <a:latin typeface="Calibri"/>
              </a:rPr>
              <a:t> des points mobile money sont à plus de 10 km d’une agence financière, contre </a:t>
            </a:r>
            <a:r>
              <a:rPr sz="1100" b="1" i="0">
                <a:solidFill>
                  <a:srgbClr val="FCE588"/>
                </a:solidFill>
                <a:latin typeface="Calibri"/>
              </a:rPr>
              <a:t>6 %</a:t>
            </a:r>
            <a:r>
              <a:rPr sz="1100" b="1" i="0">
                <a:solidFill>
                  <a:srgbClr val="FFFFFF"/>
                </a:solidFill>
                <a:latin typeface="Calibri"/>
              </a:rPr>
              <a:t> ailleurs.</a:t>
            </a:r>
          </a:p>
        </p:txBody>
      </p:sp>
      <p:sp>
        <p:nvSpPr>
          <p:cNvPr id="52" name="TextBox 51"/>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53" name="TextBox 52"/>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06 · TERRITOIRES</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7</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Où agir en priorité ?</a:t>
            </a:r>
          </a:p>
        </p:txBody>
      </p:sp>
      <p:sp>
        <p:nvSpPr>
          <p:cNvPr id="8" name="TextBox 7"/>
          <p:cNvSpPr txBox="1"/>
          <p:nvPr/>
        </p:nvSpPr>
        <p:spPr>
          <a:xfrm>
            <a:off x="502920" y="1371600"/>
            <a:ext cx="11185855" cy="256032"/>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55534E"/>
                </a:solidFill>
                <a:latin typeface="Calibri"/>
              </a:rPr>
              <a:t>7 préfectures en priorité haute et 3 non classées, toutes hors du Maritime et du Grand Lomé.</a:t>
            </a:r>
          </a:p>
        </p:txBody>
      </p:sp>
      <p:sp>
        <p:nvSpPr>
          <p:cNvPr id="9" name="Rounded Rectangle 8"/>
          <p:cNvSpPr/>
          <p:nvPr/>
        </p:nvSpPr>
        <p:spPr>
          <a:xfrm>
            <a:off x="502920" y="1792224"/>
            <a:ext cx="3246120" cy="4517136"/>
          </a:xfrm>
          <a:prstGeom prst="roundRect">
            <a:avLst>
              <a:gd name="adj" fmla="val 338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20240"/>
            <a:ext cx="2843784"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Les 39 préfectures par priorité</a:t>
            </a:r>
          </a:p>
        </p:txBody>
      </p:sp>
      <p:sp>
        <p:nvSpPr>
          <p:cNvPr id="11" name="TextBox 10"/>
          <p:cNvSpPr txBox="1"/>
          <p:nvPr/>
        </p:nvSpPr>
        <p:spPr>
          <a:xfrm>
            <a:off x="704088" y="2176272"/>
            <a:ext cx="2843784" cy="201168"/>
          </a:xfrm>
          <a:prstGeom prst="rect">
            <a:avLst/>
          </a:prstGeom>
          <a:noFill/>
        </p:spPr>
        <p:txBody>
          <a:bodyPr wrap="square" anchor="t" lIns="0" rIns="0" tIns="0" bIns="0">
            <a:noAutofit/>
          </a:bodyPr>
          <a:lstStyle/>
          <a:p>
            <a:pPr algn="l">
              <a:lnSpc>
                <a:spcPct val="100000"/>
              </a:lnSpc>
              <a:spcBef>
                <a:spcPts val="0"/>
              </a:spcBef>
              <a:spcAft>
                <a:spcPts val="0"/>
              </a:spcAft>
            </a:pPr>
            <a:r>
              <a:rPr sz="900" b="0" i="0">
                <a:solidFill>
                  <a:srgbClr val="55534E"/>
                </a:solidFill>
                <a:latin typeface="Calibri"/>
              </a:rPr>
              <a:t>numéros : les dix préfectures du tableau</a:t>
            </a:r>
          </a:p>
        </p:txBody>
      </p:sp>
      <p:pic>
        <p:nvPicPr>
          <p:cNvPr id="12" name="Picture 11" descr="carte_priorites.png"/>
          <p:cNvPicPr>
            <a:picLocks noChangeAspect="1"/>
          </p:cNvPicPr>
          <p:nvPr/>
        </p:nvPicPr>
        <p:blipFill>
          <a:blip r:embed="rId3"/>
          <a:stretch>
            <a:fillRect/>
          </a:stretch>
        </p:blipFill>
        <p:spPr>
          <a:xfrm>
            <a:off x="802520" y="2395728"/>
            <a:ext cx="2646919" cy="3822192"/>
          </a:xfrm>
          <a:prstGeom prst="rect">
            <a:avLst/>
          </a:prstGeom>
        </p:spPr>
      </p:pic>
      <p:sp>
        <p:nvSpPr>
          <p:cNvPr id="13" name="Rounded Rectangle 12"/>
          <p:cNvSpPr/>
          <p:nvPr/>
        </p:nvSpPr>
        <p:spPr>
          <a:xfrm>
            <a:off x="3986783" y="1792224"/>
            <a:ext cx="3759555" cy="1152144"/>
          </a:xfrm>
          <a:prstGeom prst="roundRect">
            <a:avLst>
              <a:gd name="adj" fmla="val 9523"/>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51375" y="1920240"/>
            <a:ext cx="3430371"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PRIORITÉ HAUTE</a:t>
            </a:r>
          </a:p>
        </p:txBody>
      </p:sp>
      <p:sp>
        <p:nvSpPr>
          <p:cNvPr id="15" name="TextBox 14"/>
          <p:cNvSpPr txBox="1"/>
          <p:nvPr/>
        </p:nvSpPr>
        <p:spPr>
          <a:xfrm>
            <a:off x="4151375" y="2139696"/>
            <a:ext cx="3430371"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0D366B"/>
                </a:solidFill>
                <a:latin typeface="Cambria"/>
              </a:rPr>
              <a:t>7</a:t>
            </a:r>
            <a:r>
              <a:rPr sz="1200" b="1" i="0">
                <a:solidFill>
                  <a:srgbClr val="0D366B"/>
                </a:solidFill>
                <a:latin typeface="Calibri"/>
              </a:rPr>
              <a:t> préfectures · 989 617 habitants</a:t>
            </a:r>
          </a:p>
        </p:txBody>
      </p:sp>
      <p:sp>
        <p:nvSpPr>
          <p:cNvPr id="16" name="TextBox 15"/>
          <p:cNvSpPr txBox="1"/>
          <p:nvPr/>
        </p:nvSpPr>
        <p:spPr>
          <a:xfrm>
            <a:off x="4151375" y="2578608"/>
            <a:ext cx="3430371" cy="292608"/>
          </a:xfrm>
          <a:prstGeom prst="rect">
            <a:avLst/>
          </a:prstGeom>
          <a:noFill/>
        </p:spPr>
        <p:txBody>
          <a:bodyPr wrap="square" anchor="t" lIns="0" rIns="0" tIns="0" bIns="0">
            <a:noAutofit/>
          </a:bodyPr>
          <a:lstStyle/>
          <a:p>
            <a:pPr algn="l">
              <a:lnSpc>
                <a:spcPct val="100000"/>
              </a:lnSpc>
              <a:spcBef>
                <a:spcPts val="0"/>
              </a:spcBef>
              <a:spcAft>
                <a:spcPts val="0"/>
              </a:spcAft>
            </a:pPr>
            <a:r>
              <a:rPr sz="950" b="0" i="0">
                <a:solidFill>
                  <a:srgbClr val="3A3935"/>
                </a:solidFill>
                <a:latin typeface="Calibri"/>
              </a:rPr>
              <a:t>12,8 % de la population classée ; confiance élevée pour 5, moyenne pour 2</a:t>
            </a:r>
          </a:p>
        </p:txBody>
      </p:sp>
      <p:sp>
        <p:nvSpPr>
          <p:cNvPr id="17" name="Rounded Rectangle 16"/>
          <p:cNvSpPr/>
          <p:nvPr/>
        </p:nvSpPr>
        <p:spPr>
          <a:xfrm>
            <a:off x="7929219" y="1792224"/>
            <a:ext cx="3759555" cy="1152144"/>
          </a:xfrm>
          <a:prstGeom prst="roundRect">
            <a:avLst>
              <a:gd name="adj" fmla="val 9523"/>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3811" y="1920240"/>
            <a:ext cx="3430371" cy="201168"/>
          </a:xfrm>
          <a:prstGeom prst="rect">
            <a:avLst/>
          </a:prstGeom>
          <a:noFill/>
        </p:spPr>
        <p:txBody>
          <a:bodyPr wrap="square" anchor="t" lIns="0" rIns="0" tIns="0" bIns="0">
            <a:noAutofit/>
          </a:bodyPr>
          <a:lstStyle/>
          <a:p>
            <a:pPr algn="l">
              <a:lnSpc>
                <a:spcPct val="100000"/>
              </a:lnSpc>
              <a:spcBef>
                <a:spcPts val="0"/>
              </a:spcBef>
              <a:spcAft>
                <a:spcPts val="0"/>
              </a:spcAft>
            </a:pPr>
            <a:r>
              <a:rPr sz="850" b="1" i="0">
                <a:solidFill>
                  <a:srgbClr val="0D366B"/>
                </a:solidFill>
                <a:latin typeface="Calibri"/>
              </a:rPr>
              <a:t>NON CLASSÉES</a:t>
            </a:r>
          </a:p>
        </p:txBody>
      </p:sp>
      <p:sp>
        <p:nvSpPr>
          <p:cNvPr id="19" name="TextBox 18"/>
          <p:cNvSpPr txBox="1"/>
          <p:nvPr/>
        </p:nvSpPr>
        <p:spPr>
          <a:xfrm>
            <a:off x="8093811" y="2139696"/>
            <a:ext cx="3430371" cy="420624"/>
          </a:xfrm>
          <a:prstGeom prst="rect">
            <a:avLst/>
          </a:prstGeom>
          <a:noFill/>
        </p:spPr>
        <p:txBody>
          <a:bodyPr wrap="square" anchor="t" lIns="0" rIns="0" tIns="0" bIns="0">
            <a:noAutofit/>
          </a:bodyPr>
          <a:lstStyle/>
          <a:p>
            <a:pPr algn="l">
              <a:lnSpc>
                <a:spcPct val="100000"/>
              </a:lnSpc>
              <a:spcBef>
                <a:spcPts val="0"/>
              </a:spcBef>
              <a:spcAft>
                <a:spcPts val="0"/>
              </a:spcAft>
            </a:pPr>
            <a:r>
              <a:rPr sz="2500" b="1" i="0">
                <a:solidFill>
                  <a:srgbClr val="55534E"/>
                </a:solidFill>
                <a:latin typeface="Cambria"/>
              </a:rPr>
              <a:t>3</a:t>
            </a:r>
            <a:r>
              <a:rPr sz="1200" b="1" i="0">
                <a:solidFill>
                  <a:srgbClr val="55534E"/>
                </a:solidFill>
                <a:latin typeface="Calibri"/>
              </a:rPr>
              <a:t> préfectures · Tchamba, Kpendjal et Mô</a:t>
            </a:r>
          </a:p>
        </p:txBody>
      </p:sp>
      <p:sp>
        <p:nvSpPr>
          <p:cNvPr id="20" name="TextBox 19"/>
          <p:cNvSpPr txBox="1"/>
          <p:nvPr/>
        </p:nvSpPr>
        <p:spPr>
          <a:xfrm>
            <a:off x="8093811" y="2578608"/>
            <a:ext cx="3430371" cy="292608"/>
          </a:xfrm>
          <a:prstGeom prst="rect">
            <a:avLst/>
          </a:prstGeom>
          <a:noFill/>
        </p:spPr>
        <p:txBody>
          <a:bodyPr wrap="square" anchor="t" lIns="0" rIns="0" tIns="0" bIns="0">
            <a:noAutofit/>
          </a:bodyPr>
          <a:lstStyle/>
          <a:p>
            <a:pPr algn="l">
              <a:lnSpc>
                <a:spcPct val="100000"/>
              </a:lnSpc>
              <a:spcBef>
                <a:spcPts val="0"/>
              </a:spcBef>
              <a:spcAft>
                <a:spcPts val="0"/>
              </a:spcAft>
            </a:pPr>
            <a:r>
              <a:rPr sz="950" b="0" i="0">
                <a:solidFill>
                  <a:srgbClr val="3A3935"/>
                </a:solidFill>
                <a:latin typeface="Calibri"/>
              </a:rPr>
              <a:t>couverture inconnue ; en priorité haute sur les deux autres dimensions</a:t>
            </a:r>
          </a:p>
        </p:txBody>
      </p:sp>
      <p:sp>
        <p:nvSpPr>
          <p:cNvPr id="21" name="Rounded Rectangle 20"/>
          <p:cNvSpPr/>
          <p:nvPr/>
        </p:nvSpPr>
        <p:spPr>
          <a:xfrm>
            <a:off x="3986783" y="3108960"/>
            <a:ext cx="7701991" cy="256032"/>
          </a:xfrm>
          <a:prstGeom prst="roundRect">
            <a:avLst>
              <a:gd name="adj" fmla="val 21428"/>
            </a:avLst>
          </a:prstGeom>
          <a:solidFill>
            <a:srgbClr val="EF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799" y="3108960"/>
            <a:ext cx="256031"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a:t>
            </a:r>
          </a:p>
        </p:txBody>
      </p:sp>
      <p:sp>
        <p:nvSpPr>
          <p:cNvPr id="23" name="TextBox 22"/>
          <p:cNvSpPr txBox="1"/>
          <p:nvPr/>
        </p:nvSpPr>
        <p:spPr>
          <a:xfrm>
            <a:off x="4443983" y="3108960"/>
            <a:ext cx="1344168"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Préfecture</a:t>
            </a:r>
          </a:p>
        </p:txBody>
      </p:sp>
      <p:sp>
        <p:nvSpPr>
          <p:cNvPr id="24" name="TextBox 23"/>
          <p:cNvSpPr txBox="1"/>
          <p:nvPr/>
        </p:nvSpPr>
        <p:spPr>
          <a:xfrm>
            <a:off x="5861303" y="3108960"/>
            <a:ext cx="1709928"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Région</a:t>
            </a:r>
          </a:p>
        </p:txBody>
      </p:sp>
      <p:sp>
        <p:nvSpPr>
          <p:cNvPr id="25" name="TextBox 24"/>
          <p:cNvSpPr txBox="1"/>
          <p:nvPr/>
        </p:nvSpPr>
        <p:spPr>
          <a:xfrm>
            <a:off x="7644383" y="3108960"/>
            <a:ext cx="841248" cy="256032"/>
          </a:xfrm>
          <a:prstGeom prst="rect">
            <a:avLst/>
          </a:prstGeom>
          <a:noFill/>
        </p:spPr>
        <p:txBody>
          <a:bodyPr wrap="square" anchor="ctr" lIns="0" rIns="0" tIns="0" bIns="0">
            <a:noAutofit/>
          </a:bodyPr>
          <a:lstStyle/>
          <a:p>
            <a:pPr algn="r">
              <a:lnSpc>
                <a:spcPct val="100000"/>
              </a:lnSpc>
              <a:spcBef>
                <a:spcPts val="0"/>
              </a:spcBef>
              <a:spcAft>
                <a:spcPts val="0"/>
              </a:spcAft>
            </a:pPr>
            <a:r>
              <a:rPr sz="850" b="1" i="0">
                <a:solidFill>
                  <a:srgbClr val="3A3935"/>
                </a:solidFill>
                <a:latin typeface="Calibri"/>
              </a:rPr>
              <a:t>Habitants</a:t>
            </a:r>
          </a:p>
        </p:txBody>
      </p:sp>
      <p:sp>
        <p:nvSpPr>
          <p:cNvPr id="26" name="TextBox 25"/>
          <p:cNvSpPr txBox="1"/>
          <p:nvPr/>
        </p:nvSpPr>
        <p:spPr>
          <a:xfrm>
            <a:off x="8558784" y="3108960"/>
            <a:ext cx="2121408"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Nature du manque</a:t>
            </a:r>
          </a:p>
        </p:txBody>
      </p:sp>
      <p:sp>
        <p:nvSpPr>
          <p:cNvPr id="27" name="TextBox 26"/>
          <p:cNvSpPr txBox="1"/>
          <p:nvPr/>
        </p:nvSpPr>
        <p:spPr>
          <a:xfrm>
            <a:off x="10753344" y="3108960"/>
            <a:ext cx="862279" cy="256032"/>
          </a:xfrm>
          <a:prstGeom prst="rect">
            <a:avLst/>
          </a:prstGeom>
          <a:noFill/>
        </p:spPr>
        <p:txBody>
          <a:bodyPr wrap="square" anchor="ctr" lIns="0" rIns="0" tIns="0" bIns="0">
            <a:noAutofit/>
          </a:bodyPr>
          <a:lstStyle/>
          <a:p>
            <a:pPr algn="l">
              <a:lnSpc>
                <a:spcPct val="100000"/>
              </a:lnSpc>
              <a:spcBef>
                <a:spcPts val="0"/>
              </a:spcBef>
              <a:spcAft>
                <a:spcPts val="0"/>
              </a:spcAft>
            </a:pPr>
            <a:r>
              <a:rPr sz="850" b="1" i="0">
                <a:solidFill>
                  <a:srgbClr val="3A3935"/>
                </a:solidFill>
                <a:latin typeface="Calibri"/>
              </a:rPr>
              <a:t>Confiance</a:t>
            </a:r>
          </a:p>
        </p:txBody>
      </p:sp>
      <p:sp>
        <p:nvSpPr>
          <p:cNvPr id="28" name="TextBox 27"/>
          <p:cNvSpPr txBox="1"/>
          <p:nvPr/>
        </p:nvSpPr>
        <p:spPr>
          <a:xfrm>
            <a:off x="4114799" y="3383279"/>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1</a:t>
            </a:r>
          </a:p>
        </p:txBody>
      </p:sp>
      <p:sp>
        <p:nvSpPr>
          <p:cNvPr id="29" name="TextBox 28"/>
          <p:cNvSpPr txBox="1"/>
          <p:nvPr/>
        </p:nvSpPr>
        <p:spPr>
          <a:xfrm>
            <a:off x="4443983" y="3383279"/>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Dankpen</a:t>
            </a:r>
          </a:p>
        </p:txBody>
      </p:sp>
      <p:sp>
        <p:nvSpPr>
          <p:cNvPr id="30" name="TextBox 29"/>
          <p:cNvSpPr txBox="1"/>
          <p:nvPr/>
        </p:nvSpPr>
        <p:spPr>
          <a:xfrm>
            <a:off x="5861303" y="3383279"/>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CB4B0C"/>
                </a:solidFill>
                <a:latin typeface="Calibri"/>
              </a:rPr>
              <a:t>Kara</a:t>
            </a:r>
          </a:p>
        </p:txBody>
      </p:sp>
      <p:sp>
        <p:nvSpPr>
          <p:cNvPr id="31" name="TextBox 30"/>
          <p:cNvSpPr txBox="1"/>
          <p:nvPr/>
        </p:nvSpPr>
        <p:spPr>
          <a:xfrm>
            <a:off x="7644383" y="3383279"/>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185 662</a:t>
            </a:r>
          </a:p>
        </p:txBody>
      </p:sp>
      <p:sp>
        <p:nvSpPr>
          <p:cNvPr id="32" name="TextBox 31"/>
          <p:cNvSpPr txBox="1"/>
          <p:nvPr/>
        </p:nvSpPr>
        <p:spPr>
          <a:xfrm>
            <a:off x="8558784" y="3383279"/>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8A1C1B"/>
                </a:solidFill>
                <a:latin typeface="Calibri"/>
              </a:rPr>
              <a:t>les trois manques</a:t>
            </a:r>
          </a:p>
        </p:txBody>
      </p:sp>
      <p:sp>
        <p:nvSpPr>
          <p:cNvPr id="33" name="TextBox 32"/>
          <p:cNvSpPr txBox="1"/>
          <p:nvPr/>
        </p:nvSpPr>
        <p:spPr>
          <a:xfrm>
            <a:off x="10753344" y="3383279"/>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élevée</a:t>
            </a:r>
          </a:p>
        </p:txBody>
      </p:sp>
      <p:sp>
        <p:nvSpPr>
          <p:cNvPr id="34" name="Rectangle 33"/>
          <p:cNvSpPr/>
          <p:nvPr/>
        </p:nvSpPr>
        <p:spPr>
          <a:xfrm>
            <a:off x="4078223" y="3608222"/>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799" y="3630168"/>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2</a:t>
            </a:r>
          </a:p>
        </p:txBody>
      </p:sp>
      <p:sp>
        <p:nvSpPr>
          <p:cNvPr id="36" name="TextBox 35"/>
          <p:cNvSpPr txBox="1"/>
          <p:nvPr/>
        </p:nvSpPr>
        <p:spPr>
          <a:xfrm>
            <a:off x="4443983" y="3630168"/>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Est-Mono</a:t>
            </a:r>
          </a:p>
        </p:txBody>
      </p:sp>
      <p:sp>
        <p:nvSpPr>
          <p:cNvPr id="37" name="TextBox 36"/>
          <p:cNvSpPr txBox="1"/>
          <p:nvPr/>
        </p:nvSpPr>
        <p:spPr>
          <a:xfrm>
            <a:off x="5861303" y="3630168"/>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AB6300"/>
                </a:solidFill>
                <a:latin typeface="Calibri"/>
              </a:rPr>
              <a:t>Plateaux</a:t>
            </a:r>
          </a:p>
        </p:txBody>
      </p:sp>
      <p:sp>
        <p:nvSpPr>
          <p:cNvPr id="38" name="TextBox 37"/>
          <p:cNvSpPr txBox="1"/>
          <p:nvPr/>
        </p:nvSpPr>
        <p:spPr>
          <a:xfrm>
            <a:off x="7644383" y="3630168"/>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164 460</a:t>
            </a:r>
          </a:p>
        </p:txBody>
      </p:sp>
      <p:sp>
        <p:nvSpPr>
          <p:cNvPr id="39" name="TextBox 38"/>
          <p:cNvSpPr txBox="1"/>
          <p:nvPr/>
        </p:nvSpPr>
        <p:spPr>
          <a:xfrm>
            <a:off x="8558784" y="3630168"/>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CB4B0C"/>
                </a:solidFill>
                <a:latin typeface="Calibri"/>
              </a:rPr>
              <a:t>agences financières d’abord</a:t>
            </a:r>
          </a:p>
        </p:txBody>
      </p:sp>
      <p:sp>
        <p:nvSpPr>
          <p:cNvPr id="40" name="TextBox 39"/>
          <p:cNvSpPr txBox="1"/>
          <p:nvPr/>
        </p:nvSpPr>
        <p:spPr>
          <a:xfrm>
            <a:off x="10753344" y="3630168"/>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élevée</a:t>
            </a:r>
          </a:p>
        </p:txBody>
      </p:sp>
      <p:sp>
        <p:nvSpPr>
          <p:cNvPr id="41" name="Rectangle 40"/>
          <p:cNvSpPr/>
          <p:nvPr/>
        </p:nvSpPr>
        <p:spPr>
          <a:xfrm>
            <a:off x="4078223" y="3855110"/>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799" y="3877055"/>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3</a:t>
            </a:r>
          </a:p>
        </p:txBody>
      </p:sp>
      <p:sp>
        <p:nvSpPr>
          <p:cNvPr id="43" name="TextBox 42"/>
          <p:cNvSpPr txBox="1"/>
          <p:nvPr/>
        </p:nvSpPr>
        <p:spPr>
          <a:xfrm>
            <a:off x="4443983" y="3877055"/>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Blitta</a:t>
            </a:r>
          </a:p>
        </p:txBody>
      </p:sp>
      <p:sp>
        <p:nvSpPr>
          <p:cNvPr id="44" name="TextBox 43"/>
          <p:cNvSpPr txBox="1"/>
          <p:nvPr/>
        </p:nvSpPr>
        <p:spPr>
          <a:xfrm>
            <a:off x="5861303" y="3877055"/>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4A3AA7"/>
                </a:solidFill>
                <a:latin typeface="Calibri"/>
              </a:rPr>
              <a:t>Centrale</a:t>
            </a:r>
          </a:p>
        </p:txBody>
      </p:sp>
      <p:sp>
        <p:nvSpPr>
          <p:cNvPr id="45" name="TextBox 44"/>
          <p:cNvSpPr txBox="1"/>
          <p:nvPr/>
        </p:nvSpPr>
        <p:spPr>
          <a:xfrm>
            <a:off x="7644383" y="3877055"/>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163 272</a:t>
            </a:r>
          </a:p>
        </p:txBody>
      </p:sp>
      <p:sp>
        <p:nvSpPr>
          <p:cNvPr id="46" name="TextBox 45"/>
          <p:cNvSpPr txBox="1"/>
          <p:nvPr/>
        </p:nvSpPr>
        <p:spPr>
          <a:xfrm>
            <a:off x="8558784" y="3877055"/>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réseau mobile money mince</a:t>
            </a:r>
          </a:p>
        </p:txBody>
      </p:sp>
      <p:sp>
        <p:nvSpPr>
          <p:cNvPr id="47" name="TextBox 46"/>
          <p:cNvSpPr txBox="1"/>
          <p:nvPr/>
        </p:nvSpPr>
        <p:spPr>
          <a:xfrm>
            <a:off x="10753344" y="3877055"/>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6B4700"/>
                </a:solidFill>
                <a:latin typeface="Calibri"/>
              </a:rPr>
              <a:t>moyenne</a:t>
            </a:r>
          </a:p>
        </p:txBody>
      </p:sp>
      <p:sp>
        <p:nvSpPr>
          <p:cNvPr id="48" name="Rectangle 47"/>
          <p:cNvSpPr/>
          <p:nvPr/>
        </p:nvSpPr>
        <p:spPr>
          <a:xfrm>
            <a:off x="4078223" y="4101998"/>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799" y="4123944"/>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4</a:t>
            </a:r>
          </a:p>
        </p:txBody>
      </p:sp>
      <p:sp>
        <p:nvSpPr>
          <p:cNvPr id="50" name="TextBox 49"/>
          <p:cNvSpPr txBox="1"/>
          <p:nvPr/>
        </p:nvSpPr>
        <p:spPr>
          <a:xfrm>
            <a:off x="4443983" y="4123944"/>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Oti-Sud</a:t>
            </a:r>
          </a:p>
        </p:txBody>
      </p:sp>
      <p:sp>
        <p:nvSpPr>
          <p:cNvPr id="51" name="TextBox 50"/>
          <p:cNvSpPr txBox="1"/>
          <p:nvPr/>
        </p:nvSpPr>
        <p:spPr>
          <a:xfrm>
            <a:off x="5861303" y="4123944"/>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BB537D"/>
                </a:solidFill>
                <a:latin typeface="Calibri"/>
              </a:rPr>
              <a:t>Savanes</a:t>
            </a:r>
          </a:p>
        </p:txBody>
      </p:sp>
      <p:sp>
        <p:nvSpPr>
          <p:cNvPr id="52" name="TextBox 51"/>
          <p:cNvSpPr txBox="1"/>
          <p:nvPr/>
        </p:nvSpPr>
        <p:spPr>
          <a:xfrm>
            <a:off x="7644383" y="4123944"/>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150 376</a:t>
            </a:r>
          </a:p>
        </p:txBody>
      </p:sp>
      <p:sp>
        <p:nvSpPr>
          <p:cNvPr id="53" name="TextBox 52"/>
          <p:cNvSpPr txBox="1"/>
          <p:nvPr/>
        </p:nvSpPr>
        <p:spPr>
          <a:xfrm>
            <a:off x="8558784" y="4123944"/>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8A1C1B"/>
                </a:solidFill>
                <a:latin typeface="Calibri"/>
              </a:rPr>
              <a:t>les trois manques</a:t>
            </a:r>
          </a:p>
        </p:txBody>
      </p:sp>
      <p:sp>
        <p:nvSpPr>
          <p:cNvPr id="54" name="TextBox 53"/>
          <p:cNvSpPr txBox="1"/>
          <p:nvPr/>
        </p:nvSpPr>
        <p:spPr>
          <a:xfrm>
            <a:off x="10753344" y="4123944"/>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élevée</a:t>
            </a:r>
          </a:p>
        </p:txBody>
      </p:sp>
      <p:sp>
        <p:nvSpPr>
          <p:cNvPr id="55" name="Rectangle 54"/>
          <p:cNvSpPr/>
          <p:nvPr/>
        </p:nvSpPr>
        <p:spPr>
          <a:xfrm>
            <a:off x="4078223" y="4348886"/>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799" y="4370831"/>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5</a:t>
            </a:r>
          </a:p>
        </p:txBody>
      </p:sp>
      <p:sp>
        <p:nvSpPr>
          <p:cNvPr id="57" name="TextBox 56"/>
          <p:cNvSpPr txBox="1"/>
          <p:nvPr/>
        </p:nvSpPr>
        <p:spPr>
          <a:xfrm>
            <a:off x="4443983" y="4370831"/>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Kéran</a:t>
            </a:r>
          </a:p>
        </p:txBody>
      </p:sp>
      <p:sp>
        <p:nvSpPr>
          <p:cNvPr id="58" name="TextBox 57"/>
          <p:cNvSpPr txBox="1"/>
          <p:nvPr/>
        </p:nvSpPr>
        <p:spPr>
          <a:xfrm>
            <a:off x="5861303" y="4370831"/>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CB4B0C"/>
                </a:solidFill>
                <a:latin typeface="Calibri"/>
              </a:rPr>
              <a:t>Kara</a:t>
            </a:r>
          </a:p>
        </p:txBody>
      </p:sp>
      <p:sp>
        <p:nvSpPr>
          <p:cNvPr id="59" name="TextBox 58"/>
          <p:cNvSpPr txBox="1"/>
          <p:nvPr/>
        </p:nvSpPr>
        <p:spPr>
          <a:xfrm>
            <a:off x="7644383" y="4370831"/>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128 687</a:t>
            </a:r>
          </a:p>
        </p:txBody>
      </p:sp>
      <p:sp>
        <p:nvSpPr>
          <p:cNvPr id="60" name="TextBox 59"/>
          <p:cNvSpPr txBox="1"/>
          <p:nvPr/>
        </p:nvSpPr>
        <p:spPr>
          <a:xfrm>
            <a:off x="8558784" y="4370831"/>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4A3AA7"/>
                </a:solidFill>
                <a:latin typeface="Calibri"/>
              </a:rPr>
              <a:t>couverture d’abord, à confirmer</a:t>
            </a:r>
          </a:p>
        </p:txBody>
      </p:sp>
      <p:sp>
        <p:nvSpPr>
          <p:cNvPr id="61" name="TextBox 60"/>
          <p:cNvSpPr txBox="1"/>
          <p:nvPr/>
        </p:nvSpPr>
        <p:spPr>
          <a:xfrm>
            <a:off x="10753344" y="4370831"/>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6B4700"/>
                </a:solidFill>
                <a:latin typeface="Calibri"/>
              </a:rPr>
              <a:t>moyenne</a:t>
            </a:r>
          </a:p>
        </p:txBody>
      </p:sp>
      <p:sp>
        <p:nvSpPr>
          <p:cNvPr id="62" name="Rectangle 61"/>
          <p:cNvSpPr/>
          <p:nvPr/>
        </p:nvSpPr>
        <p:spPr>
          <a:xfrm>
            <a:off x="4078223" y="4595774"/>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114799" y="4617719"/>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6</a:t>
            </a:r>
          </a:p>
        </p:txBody>
      </p:sp>
      <p:sp>
        <p:nvSpPr>
          <p:cNvPr id="64" name="TextBox 63"/>
          <p:cNvSpPr txBox="1"/>
          <p:nvPr/>
        </p:nvSpPr>
        <p:spPr>
          <a:xfrm>
            <a:off x="4443983" y="4617719"/>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Kpendjal-Ouest</a:t>
            </a:r>
          </a:p>
        </p:txBody>
      </p:sp>
      <p:sp>
        <p:nvSpPr>
          <p:cNvPr id="65" name="TextBox 64"/>
          <p:cNvSpPr txBox="1"/>
          <p:nvPr/>
        </p:nvSpPr>
        <p:spPr>
          <a:xfrm>
            <a:off x="5861303" y="4617719"/>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BB537D"/>
                </a:solidFill>
                <a:latin typeface="Calibri"/>
              </a:rPr>
              <a:t>Savanes</a:t>
            </a:r>
          </a:p>
        </p:txBody>
      </p:sp>
      <p:sp>
        <p:nvSpPr>
          <p:cNvPr id="66" name="TextBox 65"/>
          <p:cNvSpPr txBox="1"/>
          <p:nvPr/>
        </p:nvSpPr>
        <p:spPr>
          <a:xfrm>
            <a:off x="7644383" y="4617719"/>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123 330</a:t>
            </a:r>
          </a:p>
        </p:txBody>
      </p:sp>
      <p:sp>
        <p:nvSpPr>
          <p:cNvPr id="67" name="TextBox 66"/>
          <p:cNvSpPr txBox="1"/>
          <p:nvPr/>
        </p:nvSpPr>
        <p:spPr>
          <a:xfrm>
            <a:off x="8558784" y="4617719"/>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8A1C1B"/>
                </a:solidFill>
                <a:latin typeface="Calibri"/>
              </a:rPr>
              <a:t>les trois manques</a:t>
            </a:r>
          </a:p>
        </p:txBody>
      </p:sp>
      <p:sp>
        <p:nvSpPr>
          <p:cNvPr id="68" name="TextBox 67"/>
          <p:cNvSpPr txBox="1"/>
          <p:nvPr/>
        </p:nvSpPr>
        <p:spPr>
          <a:xfrm>
            <a:off x="10753344" y="4617719"/>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élevée</a:t>
            </a:r>
          </a:p>
        </p:txBody>
      </p:sp>
      <p:sp>
        <p:nvSpPr>
          <p:cNvPr id="69" name="Rectangle 68"/>
          <p:cNvSpPr/>
          <p:nvPr/>
        </p:nvSpPr>
        <p:spPr>
          <a:xfrm>
            <a:off x="4078223" y="4842662"/>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114799" y="4864607"/>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7</a:t>
            </a:r>
          </a:p>
        </p:txBody>
      </p:sp>
      <p:sp>
        <p:nvSpPr>
          <p:cNvPr id="71" name="TextBox 70"/>
          <p:cNvSpPr txBox="1"/>
          <p:nvPr/>
        </p:nvSpPr>
        <p:spPr>
          <a:xfrm>
            <a:off x="4443983" y="4864607"/>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Akébou</a:t>
            </a:r>
          </a:p>
        </p:txBody>
      </p:sp>
      <p:sp>
        <p:nvSpPr>
          <p:cNvPr id="72" name="TextBox 71"/>
          <p:cNvSpPr txBox="1"/>
          <p:nvPr/>
        </p:nvSpPr>
        <p:spPr>
          <a:xfrm>
            <a:off x="5861303" y="4864607"/>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AB6300"/>
                </a:solidFill>
                <a:latin typeface="Calibri"/>
              </a:rPr>
              <a:t>Plateaux</a:t>
            </a:r>
          </a:p>
        </p:txBody>
      </p:sp>
      <p:sp>
        <p:nvSpPr>
          <p:cNvPr id="73" name="TextBox 72"/>
          <p:cNvSpPr txBox="1"/>
          <p:nvPr/>
        </p:nvSpPr>
        <p:spPr>
          <a:xfrm>
            <a:off x="7644383" y="4864607"/>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73 830</a:t>
            </a:r>
          </a:p>
        </p:txBody>
      </p:sp>
      <p:sp>
        <p:nvSpPr>
          <p:cNvPr id="74" name="TextBox 73"/>
          <p:cNvSpPr txBox="1"/>
          <p:nvPr/>
        </p:nvSpPr>
        <p:spPr>
          <a:xfrm>
            <a:off x="8558784" y="4864607"/>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CB4B0C"/>
                </a:solidFill>
                <a:latin typeface="Calibri"/>
              </a:rPr>
              <a:t>agences financières d’abord</a:t>
            </a:r>
          </a:p>
        </p:txBody>
      </p:sp>
      <p:sp>
        <p:nvSpPr>
          <p:cNvPr id="75" name="TextBox 74"/>
          <p:cNvSpPr txBox="1"/>
          <p:nvPr/>
        </p:nvSpPr>
        <p:spPr>
          <a:xfrm>
            <a:off x="10753344" y="4864607"/>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élevée</a:t>
            </a:r>
          </a:p>
        </p:txBody>
      </p:sp>
      <p:sp>
        <p:nvSpPr>
          <p:cNvPr id="76" name="Rectangle 75"/>
          <p:cNvSpPr/>
          <p:nvPr/>
        </p:nvSpPr>
        <p:spPr>
          <a:xfrm>
            <a:off x="4078223" y="5089550"/>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14799" y="5111495"/>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8</a:t>
            </a:r>
          </a:p>
        </p:txBody>
      </p:sp>
      <p:sp>
        <p:nvSpPr>
          <p:cNvPr id="78" name="TextBox 77"/>
          <p:cNvSpPr txBox="1"/>
          <p:nvPr/>
        </p:nvSpPr>
        <p:spPr>
          <a:xfrm>
            <a:off x="4443983" y="5111495"/>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Tchamba</a:t>
            </a:r>
          </a:p>
        </p:txBody>
      </p:sp>
      <p:sp>
        <p:nvSpPr>
          <p:cNvPr id="79" name="TextBox 78"/>
          <p:cNvSpPr txBox="1"/>
          <p:nvPr/>
        </p:nvSpPr>
        <p:spPr>
          <a:xfrm>
            <a:off x="5861303" y="5111495"/>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4A3AA7"/>
                </a:solidFill>
                <a:latin typeface="Calibri"/>
              </a:rPr>
              <a:t>Centrale</a:t>
            </a:r>
          </a:p>
        </p:txBody>
      </p:sp>
      <p:sp>
        <p:nvSpPr>
          <p:cNvPr id="80" name="TextBox 79"/>
          <p:cNvSpPr txBox="1"/>
          <p:nvPr/>
        </p:nvSpPr>
        <p:spPr>
          <a:xfrm>
            <a:off x="7644383" y="5111495"/>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200 585</a:t>
            </a:r>
          </a:p>
        </p:txBody>
      </p:sp>
      <p:sp>
        <p:nvSpPr>
          <p:cNvPr id="81" name="TextBox 80"/>
          <p:cNvSpPr txBox="1"/>
          <p:nvPr/>
        </p:nvSpPr>
        <p:spPr>
          <a:xfrm>
            <a:off x="8558784" y="5111495"/>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réseau mobile money mince</a:t>
            </a:r>
          </a:p>
        </p:txBody>
      </p:sp>
      <p:sp>
        <p:nvSpPr>
          <p:cNvPr id="82" name="TextBox 81"/>
          <p:cNvSpPr txBox="1"/>
          <p:nvPr/>
        </p:nvSpPr>
        <p:spPr>
          <a:xfrm>
            <a:off x="10753344" y="5111495"/>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non classée</a:t>
            </a:r>
          </a:p>
        </p:txBody>
      </p:sp>
      <p:sp>
        <p:nvSpPr>
          <p:cNvPr id="83" name="Rectangle 82"/>
          <p:cNvSpPr/>
          <p:nvPr/>
        </p:nvSpPr>
        <p:spPr>
          <a:xfrm>
            <a:off x="4078223" y="5336438"/>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114799" y="5358383"/>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9</a:t>
            </a:r>
          </a:p>
        </p:txBody>
      </p:sp>
      <p:sp>
        <p:nvSpPr>
          <p:cNvPr id="85" name="TextBox 84"/>
          <p:cNvSpPr txBox="1"/>
          <p:nvPr/>
        </p:nvSpPr>
        <p:spPr>
          <a:xfrm>
            <a:off x="4443983" y="5358383"/>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Kpendjal</a:t>
            </a:r>
          </a:p>
        </p:txBody>
      </p:sp>
      <p:sp>
        <p:nvSpPr>
          <p:cNvPr id="86" name="TextBox 85"/>
          <p:cNvSpPr txBox="1"/>
          <p:nvPr/>
        </p:nvSpPr>
        <p:spPr>
          <a:xfrm>
            <a:off x="5861303" y="5358383"/>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BB537D"/>
                </a:solidFill>
                <a:latin typeface="Calibri"/>
              </a:rPr>
              <a:t>Savanes</a:t>
            </a:r>
          </a:p>
        </p:txBody>
      </p:sp>
      <p:sp>
        <p:nvSpPr>
          <p:cNvPr id="87" name="TextBox 86"/>
          <p:cNvSpPr txBox="1"/>
          <p:nvPr/>
        </p:nvSpPr>
        <p:spPr>
          <a:xfrm>
            <a:off x="7644383" y="5358383"/>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88 365</a:t>
            </a:r>
          </a:p>
        </p:txBody>
      </p:sp>
      <p:sp>
        <p:nvSpPr>
          <p:cNvPr id="88" name="TextBox 87"/>
          <p:cNvSpPr txBox="1"/>
          <p:nvPr/>
        </p:nvSpPr>
        <p:spPr>
          <a:xfrm>
            <a:off x="8558784" y="5358383"/>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CB4B0C"/>
                </a:solidFill>
                <a:latin typeface="Calibri"/>
              </a:rPr>
              <a:t>agences financières d’abord</a:t>
            </a:r>
          </a:p>
        </p:txBody>
      </p:sp>
      <p:sp>
        <p:nvSpPr>
          <p:cNvPr id="89" name="TextBox 88"/>
          <p:cNvSpPr txBox="1"/>
          <p:nvPr/>
        </p:nvSpPr>
        <p:spPr>
          <a:xfrm>
            <a:off x="10753344" y="5358383"/>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non classée</a:t>
            </a:r>
          </a:p>
        </p:txBody>
      </p:sp>
      <p:sp>
        <p:nvSpPr>
          <p:cNvPr id="90" name="Rectangle 89"/>
          <p:cNvSpPr/>
          <p:nvPr/>
        </p:nvSpPr>
        <p:spPr>
          <a:xfrm>
            <a:off x="4078223" y="5583326"/>
            <a:ext cx="7519111" cy="7315"/>
          </a:xfrm>
          <a:prstGeom prst="rect">
            <a:avLst/>
          </a:prstGeom>
          <a:solidFill>
            <a:srgbClr val="E2D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114799" y="5605271"/>
            <a:ext cx="256031"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10</a:t>
            </a:r>
          </a:p>
        </p:txBody>
      </p:sp>
      <p:sp>
        <p:nvSpPr>
          <p:cNvPr id="92" name="TextBox 91"/>
          <p:cNvSpPr txBox="1"/>
          <p:nvPr/>
        </p:nvSpPr>
        <p:spPr>
          <a:xfrm>
            <a:off x="4443983" y="5605271"/>
            <a:ext cx="134416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41413"/>
                </a:solidFill>
                <a:latin typeface="Calibri"/>
              </a:rPr>
              <a:t>Mô</a:t>
            </a:r>
          </a:p>
        </p:txBody>
      </p:sp>
      <p:sp>
        <p:nvSpPr>
          <p:cNvPr id="93" name="TextBox 92"/>
          <p:cNvSpPr txBox="1"/>
          <p:nvPr/>
        </p:nvSpPr>
        <p:spPr>
          <a:xfrm>
            <a:off x="5861303" y="5605271"/>
            <a:ext cx="170992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4A3AA7"/>
                </a:solidFill>
                <a:latin typeface="Calibri"/>
              </a:rPr>
              <a:t>Centrale</a:t>
            </a:r>
          </a:p>
        </p:txBody>
      </p:sp>
      <p:sp>
        <p:nvSpPr>
          <p:cNvPr id="94" name="TextBox 93"/>
          <p:cNvSpPr txBox="1"/>
          <p:nvPr/>
        </p:nvSpPr>
        <p:spPr>
          <a:xfrm>
            <a:off x="7644383" y="5605271"/>
            <a:ext cx="841248" cy="210312"/>
          </a:xfrm>
          <a:prstGeom prst="rect">
            <a:avLst/>
          </a:prstGeom>
          <a:noFill/>
        </p:spPr>
        <p:txBody>
          <a:bodyPr wrap="square" anchor="ctr" lIns="0" rIns="0" tIns="0" bIns="0">
            <a:noAutofit/>
          </a:bodyPr>
          <a:lstStyle/>
          <a:p>
            <a:pPr algn="r">
              <a:lnSpc>
                <a:spcPct val="95000"/>
              </a:lnSpc>
              <a:spcBef>
                <a:spcPts val="0"/>
              </a:spcBef>
              <a:spcAft>
                <a:spcPts val="0"/>
              </a:spcAft>
            </a:pPr>
            <a:r>
              <a:rPr sz="1000" b="0" i="0">
                <a:solidFill>
                  <a:srgbClr val="141413"/>
                </a:solidFill>
                <a:latin typeface="Calibri"/>
              </a:rPr>
              <a:t>52 448</a:t>
            </a:r>
          </a:p>
        </p:txBody>
      </p:sp>
      <p:sp>
        <p:nvSpPr>
          <p:cNvPr id="95" name="TextBox 94"/>
          <p:cNvSpPr txBox="1"/>
          <p:nvPr/>
        </p:nvSpPr>
        <p:spPr>
          <a:xfrm>
            <a:off x="8558784" y="5605271"/>
            <a:ext cx="2121408"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11613F"/>
                </a:solidFill>
                <a:latin typeface="Calibri"/>
              </a:rPr>
              <a:t>réseau mobile money mince</a:t>
            </a:r>
          </a:p>
        </p:txBody>
      </p:sp>
      <p:sp>
        <p:nvSpPr>
          <p:cNvPr id="96" name="TextBox 95"/>
          <p:cNvSpPr txBox="1"/>
          <p:nvPr/>
        </p:nvSpPr>
        <p:spPr>
          <a:xfrm>
            <a:off x="10753344" y="5605271"/>
            <a:ext cx="862279" cy="210312"/>
          </a:xfrm>
          <a:prstGeom prst="rect">
            <a:avLst/>
          </a:prstGeom>
          <a:noFill/>
        </p:spPr>
        <p:txBody>
          <a:bodyPr wrap="square" anchor="ctr" lIns="0" rIns="0" tIns="0" bIns="0">
            <a:noAutofit/>
          </a:bodyPr>
          <a:lstStyle/>
          <a:p>
            <a:pPr algn="l">
              <a:lnSpc>
                <a:spcPct val="95000"/>
              </a:lnSpc>
              <a:spcBef>
                <a:spcPts val="0"/>
              </a:spcBef>
              <a:spcAft>
                <a:spcPts val="0"/>
              </a:spcAft>
            </a:pPr>
            <a:r>
              <a:rPr sz="1000" b="1" i="0">
                <a:solidFill>
                  <a:srgbClr val="55534E"/>
                </a:solidFill>
                <a:latin typeface="Calibri"/>
              </a:rPr>
              <a:t>non classée</a:t>
            </a:r>
          </a:p>
        </p:txBody>
      </p:sp>
      <p:sp>
        <p:nvSpPr>
          <p:cNvPr id="97" name="TextBox 96"/>
          <p:cNvSpPr txBox="1"/>
          <p:nvPr/>
        </p:nvSpPr>
        <p:spPr>
          <a:xfrm>
            <a:off x="3986783" y="5925311"/>
            <a:ext cx="7701991" cy="384048"/>
          </a:xfrm>
          <a:prstGeom prst="rect">
            <a:avLst/>
          </a:prstGeom>
          <a:noFill/>
        </p:spPr>
        <p:txBody>
          <a:bodyPr wrap="square" anchor="t" lIns="0" rIns="0" tIns="0" bIns="0">
            <a:noAutofit/>
          </a:bodyPr>
          <a:lstStyle/>
          <a:p>
            <a:pPr algn="l">
              <a:lnSpc>
                <a:spcPct val="100000"/>
              </a:lnSpc>
              <a:spcBef>
                <a:spcPts val="0"/>
              </a:spcBef>
              <a:spcAft>
                <a:spcPts val="0"/>
              </a:spcAft>
            </a:pPr>
            <a:r>
              <a:rPr sz="900" b="0" i="1">
                <a:solidFill>
                  <a:srgbClr val="55534E"/>
                </a:solidFill>
                <a:latin typeface="Calibri"/>
              </a:rPr>
              <a:t>Confiance élevée : la priorité ne change sous aucun des poids testés et ne dépend pas de la couverture. Moyenne : elle repose en partie sur une couverture douteuse.</a:t>
            </a:r>
          </a:p>
        </p:txBody>
      </p:sp>
      <p:sp>
        <p:nvSpPr>
          <p:cNvPr id="98" name="TextBox 97"/>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99" name="TextBox 98"/>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07 · ARBITRAGE</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8</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Priorité n’est pas population</a:t>
            </a:r>
          </a:p>
        </p:txBody>
      </p:sp>
      <p:sp>
        <p:nvSpPr>
          <p:cNvPr id="8" name="TextBox 7"/>
          <p:cNvSpPr txBox="1"/>
          <p:nvPr/>
        </p:nvSpPr>
        <p:spPr>
          <a:xfrm>
            <a:off x="502920" y="1371600"/>
            <a:ext cx="11185855" cy="256032"/>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55534E"/>
                </a:solidFill>
                <a:latin typeface="Calibri"/>
              </a:rPr>
              <a:t>Le classement mesure l’intensité du manque ; la population en mesure le volume. Les deux divergent.</a:t>
            </a:r>
          </a:p>
        </p:txBody>
      </p:sp>
      <p:sp>
        <p:nvSpPr>
          <p:cNvPr id="9" name="Rounded Rectangle 8"/>
          <p:cNvSpPr/>
          <p:nvPr/>
        </p:nvSpPr>
        <p:spPr>
          <a:xfrm>
            <a:off x="502920" y="1792224"/>
            <a:ext cx="5852160" cy="2834640"/>
          </a:xfrm>
          <a:prstGeom prst="roundRect">
            <a:avLst>
              <a:gd name="adj" fmla="val 387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20240"/>
            <a:ext cx="5449824"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141413"/>
                </a:solidFill>
                <a:latin typeface="Cambria"/>
              </a:rPr>
              <a:t>Score de priorité et habitants, par préfecture</a:t>
            </a:r>
          </a:p>
        </p:txBody>
      </p:sp>
      <p:pic>
        <p:nvPicPr>
          <p:cNvPr id="11" name="Picture 10" descr="arbitrage.png"/>
          <p:cNvPicPr>
            <a:picLocks noChangeAspect="1"/>
          </p:cNvPicPr>
          <p:nvPr/>
        </p:nvPicPr>
        <p:blipFill>
          <a:blip r:embed="rId3"/>
          <a:stretch>
            <a:fillRect/>
          </a:stretch>
        </p:blipFill>
        <p:spPr>
          <a:xfrm>
            <a:off x="950707" y="2212848"/>
            <a:ext cx="4956584" cy="2340864"/>
          </a:xfrm>
          <a:prstGeom prst="rect">
            <a:avLst/>
          </a:prstGeom>
        </p:spPr>
      </p:pic>
      <p:sp>
        <p:nvSpPr>
          <p:cNvPr id="12" name="TextBox 11"/>
          <p:cNvSpPr txBox="1"/>
          <p:nvPr/>
        </p:nvSpPr>
        <p:spPr>
          <a:xfrm>
            <a:off x="6583680" y="1792224"/>
            <a:ext cx="510509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DEUX CONSTATS</a:t>
            </a:r>
          </a:p>
        </p:txBody>
      </p:sp>
      <p:sp>
        <p:nvSpPr>
          <p:cNvPr id="13" name="Rounded Rectangle 12"/>
          <p:cNvSpPr/>
          <p:nvPr/>
        </p:nvSpPr>
        <p:spPr>
          <a:xfrm>
            <a:off x="6583680" y="2066543"/>
            <a:ext cx="5105095" cy="1216152"/>
          </a:xfrm>
          <a:prstGeom prst="roundRect">
            <a:avLst>
              <a:gd name="adj" fmla="val 9022"/>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48272" y="2212848"/>
            <a:ext cx="292608" cy="292608"/>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mbria"/>
              </a:rPr>
              <a:t>1</a:t>
            </a:r>
          </a:p>
        </p:txBody>
      </p:sp>
      <p:sp>
        <p:nvSpPr>
          <p:cNvPr id="15" name="TextBox 14"/>
          <p:cNvSpPr txBox="1"/>
          <p:nvPr/>
        </p:nvSpPr>
        <p:spPr>
          <a:xfrm>
            <a:off x="7150608" y="2194560"/>
            <a:ext cx="4373575" cy="329184"/>
          </a:xfrm>
          <a:prstGeom prst="rect">
            <a:avLst/>
          </a:prstGeom>
          <a:noFill/>
        </p:spPr>
        <p:txBody>
          <a:bodyPr wrap="square" anchor="ctr" lIns="0" rIns="0" tIns="0" bIns="0">
            <a:noAutofit/>
          </a:bodyPr>
          <a:lstStyle/>
          <a:p>
            <a:pPr algn="l">
              <a:lnSpc>
                <a:spcPct val="100000"/>
              </a:lnSpc>
              <a:spcBef>
                <a:spcPts val="0"/>
              </a:spcBef>
              <a:spcAft>
                <a:spcPts val="0"/>
              </a:spcAft>
            </a:pPr>
            <a:r>
              <a:rPr sz="1200" b="1" i="0">
                <a:solidFill>
                  <a:srgbClr val="0D366B"/>
                </a:solidFill>
                <a:latin typeface="Cambria"/>
              </a:rPr>
              <a:t>Les plus peuplées ne sont pas les plus prioritaires</a:t>
            </a:r>
          </a:p>
        </p:txBody>
      </p:sp>
      <p:sp>
        <p:nvSpPr>
          <p:cNvPr id="16" name="TextBox 15"/>
          <p:cNvSpPr txBox="1"/>
          <p:nvPr/>
        </p:nvSpPr>
        <p:spPr>
          <a:xfrm>
            <a:off x="6748272" y="2596896"/>
            <a:ext cx="4775911" cy="594360"/>
          </a:xfrm>
          <a:prstGeom prst="rect">
            <a:avLst/>
          </a:prstGeom>
          <a:noFill/>
        </p:spPr>
        <p:txBody>
          <a:bodyPr wrap="square" anchor="t" lIns="0" rIns="0" tIns="0" bIns="0">
            <a:noAutofit/>
          </a:bodyPr>
          <a:lstStyle/>
          <a:p>
            <a:pPr algn="l">
              <a:lnSpc>
                <a:spcPct val="108000"/>
              </a:lnSpc>
              <a:spcBef>
                <a:spcPts val="0"/>
              </a:spcBef>
              <a:spcAft>
                <a:spcPts val="0"/>
              </a:spcAft>
            </a:pPr>
            <a:r>
              <a:rPr sz="1050" b="0" i="0">
                <a:solidFill>
                  <a:srgbClr val="141413"/>
                </a:solidFill>
                <a:latin typeface="Calibri"/>
              </a:rPr>
              <a:t>Les 7 préfectures en priorité haute comptent 989 617 habitants (12,8 %). Golfe, Agoè-Nyivé et Zio (2,69 millions d’habitants à elles trois) sont en priorité moyenne ou faible.</a:t>
            </a:r>
          </a:p>
        </p:txBody>
      </p:sp>
      <p:sp>
        <p:nvSpPr>
          <p:cNvPr id="17" name="Rounded Rectangle 16"/>
          <p:cNvSpPr/>
          <p:nvPr/>
        </p:nvSpPr>
        <p:spPr>
          <a:xfrm>
            <a:off x="6583680" y="3410712"/>
            <a:ext cx="5105095" cy="1216152"/>
          </a:xfrm>
          <a:prstGeom prst="roundRect">
            <a:avLst>
              <a:gd name="adj" fmla="val 9022"/>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48272" y="3557016"/>
            <a:ext cx="292608" cy="292608"/>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mbria"/>
              </a:rPr>
              <a:t>2</a:t>
            </a:r>
          </a:p>
        </p:txBody>
      </p:sp>
      <p:sp>
        <p:nvSpPr>
          <p:cNvPr id="19" name="TextBox 18"/>
          <p:cNvSpPr txBox="1"/>
          <p:nvPr/>
        </p:nvSpPr>
        <p:spPr>
          <a:xfrm>
            <a:off x="7150608" y="3538728"/>
            <a:ext cx="4373575" cy="329184"/>
          </a:xfrm>
          <a:prstGeom prst="rect">
            <a:avLst/>
          </a:prstGeom>
          <a:noFill/>
        </p:spPr>
        <p:txBody>
          <a:bodyPr wrap="square" anchor="ctr" lIns="0" rIns="0" tIns="0" bIns="0">
            <a:noAutofit/>
          </a:bodyPr>
          <a:lstStyle/>
          <a:p>
            <a:pPr algn="l">
              <a:lnSpc>
                <a:spcPct val="100000"/>
              </a:lnSpc>
              <a:spcBef>
                <a:spcPts val="0"/>
              </a:spcBef>
              <a:spcAft>
                <a:spcPts val="0"/>
              </a:spcAft>
            </a:pPr>
            <a:r>
              <a:rPr sz="1200" b="1" i="0">
                <a:solidFill>
                  <a:srgbClr val="0D366B"/>
                </a:solidFill>
                <a:latin typeface="Cambria"/>
              </a:rPr>
              <a:t>La préfecture cache des communes</a:t>
            </a:r>
          </a:p>
        </p:txBody>
      </p:sp>
      <p:sp>
        <p:nvSpPr>
          <p:cNvPr id="20" name="TextBox 19"/>
          <p:cNvSpPr txBox="1"/>
          <p:nvPr/>
        </p:nvSpPr>
        <p:spPr>
          <a:xfrm>
            <a:off x="6748272" y="3941063"/>
            <a:ext cx="4775911" cy="594360"/>
          </a:xfrm>
          <a:prstGeom prst="rect">
            <a:avLst/>
          </a:prstGeom>
          <a:noFill/>
        </p:spPr>
        <p:txBody>
          <a:bodyPr wrap="square" anchor="t" lIns="0" rIns="0" tIns="0" bIns="0">
            <a:noAutofit/>
          </a:bodyPr>
          <a:lstStyle/>
          <a:p>
            <a:pPr algn="l">
              <a:lnSpc>
                <a:spcPct val="108000"/>
              </a:lnSpc>
              <a:spcBef>
                <a:spcPts val="0"/>
              </a:spcBef>
              <a:spcAft>
                <a:spcPts val="0"/>
              </a:spcAft>
            </a:pPr>
            <a:r>
              <a:rPr sz="1050" b="0" i="0">
                <a:solidFill>
                  <a:srgbClr val="141413"/>
                </a:solidFill>
                <a:latin typeface="Calibri"/>
              </a:rPr>
              <a:t>14 des 22 communes sans agence financière (402 726 habitants) sont dans des préfectures qui ne sont pas en priorité haute : le classement préfectoral ne les voit pas.</a:t>
            </a:r>
          </a:p>
        </p:txBody>
      </p:sp>
      <p:sp>
        <p:nvSpPr>
          <p:cNvPr id="21" name="TextBox 20"/>
          <p:cNvSpPr txBox="1"/>
          <p:nvPr/>
        </p:nvSpPr>
        <p:spPr>
          <a:xfrm>
            <a:off x="502920" y="4754880"/>
            <a:ext cx="11185855"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DEUX RÈGLES POUR DÉCIDER</a:t>
            </a:r>
          </a:p>
        </p:txBody>
      </p:sp>
      <p:sp>
        <p:nvSpPr>
          <p:cNvPr id="22" name="Rounded Rectangle 21"/>
          <p:cNvSpPr/>
          <p:nvPr/>
        </p:nvSpPr>
        <p:spPr>
          <a:xfrm>
            <a:off x="502920" y="5010912"/>
            <a:ext cx="5474055" cy="694944"/>
          </a:xfrm>
          <a:prstGeom prst="roundRect">
            <a:avLst>
              <a:gd name="adj" fmla="val 15789"/>
            </a:avLst>
          </a:prstGeom>
          <a:solidFill>
            <a:srgbClr val="FBE3E2"/>
          </a:solidFill>
          <a:ln w="9525">
            <a:solidFill>
              <a:srgbClr val="F1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5084064"/>
            <a:ext cx="5071719"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8A1C1B"/>
                </a:solidFill>
                <a:latin typeface="Cambria"/>
              </a:rPr>
              <a:t>La commune sans agence passe en premier</a:t>
            </a:r>
          </a:p>
        </p:txBody>
      </p:sp>
      <p:sp>
        <p:nvSpPr>
          <p:cNvPr id="24" name="TextBox 23"/>
          <p:cNvSpPr txBox="1"/>
          <p:nvPr/>
        </p:nvSpPr>
        <p:spPr>
          <a:xfrm>
            <a:off x="704088" y="5376672"/>
            <a:ext cx="5071719" cy="256032"/>
          </a:xfrm>
          <a:prstGeom prst="rect">
            <a:avLst/>
          </a:prstGeom>
          <a:noFill/>
        </p:spPr>
        <p:txBody>
          <a:bodyPr wrap="square" anchor="t" lIns="0" rIns="0" tIns="0" bIns="0">
            <a:noAutofit/>
          </a:bodyPr>
          <a:lstStyle/>
          <a:p>
            <a:pPr algn="l">
              <a:lnSpc>
                <a:spcPct val="100000"/>
              </a:lnSpc>
              <a:spcBef>
                <a:spcPts val="0"/>
              </a:spcBef>
              <a:spcAft>
                <a:spcPts val="0"/>
              </a:spcAft>
            </a:pPr>
            <a:r>
              <a:rPr sz="1050" b="0" i="0">
                <a:solidFill>
                  <a:srgbClr val="141413"/>
                </a:solidFill>
                <a:latin typeface="Calibri"/>
              </a:rPr>
              <a:t>priorité absolue, quelle que soit la classe de sa préfecture</a:t>
            </a:r>
          </a:p>
        </p:txBody>
      </p:sp>
      <p:sp>
        <p:nvSpPr>
          <p:cNvPr id="25" name="Rounded Rectangle 24"/>
          <p:cNvSpPr/>
          <p:nvPr/>
        </p:nvSpPr>
        <p:spPr>
          <a:xfrm>
            <a:off x="6214719" y="5010912"/>
            <a:ext cx="5474055" cy="694944"/>
          </a:xfrm>
          <a:prstGeom prst="roundRect">
            <a:avLst>
              <a:gd name="adj" fmla="val 15789"/>
            </a:avLst>
          </a:prstGeom>
          <a:solidFill>
            <a:srgbClr val="E8F0FB"/>
          </a:solidFill>
          <a:ln w="9525">
            <a:solidFill>
              <a:srgbClr val="C7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5887" y="5084064"/>
            <a:ext cx="5071719"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a:solidFill>
                  <a:srgbClr val="0D366B"/>
                </a:solidFill>
                <a:latin typeface="Cambria"/>
              </a:rPr>
              <a:t>La classe d’abord, la population ensuite</a:t>
            </a:r>
          </a:p>
        </p:txBody>
      </p:sp>
      <p:sp>
        <p:nvSpPr>
          <p:cNvPr id="27" name="TextBox 26"/>
          <p:cNvSpPr txBox="1"/>
          <p:nvPr/>
        </p:nvSpPr>
        <p:spPr>
          <a:xfrm>
            <a:off x="6415887" y="5376672"/>
            <a:ext cx="5071719" cy="256032"/>
          </a:xfrm>
          <a:prstGeom prst="rect">
            <a:avLst/>
          </a:prstGeom>
          <a:noFill/>
        </p:spPr>
        <p:txBody>
          <a:bodyPr wrap="square" anchor="t" lIns="0" rIns="0" tIns="0" bIns="0">
            <a:noAutofit/>
          </a:bodyPr>
          <a:lstStyle/>
          <a:p>
            <a:pPr algn="l">
              <a:lnSpc>
                <a:spcPct val="100000"/>
              </a:lnSpc>
              <a:spcBef>
                <a:spcPts val="0"/>
              </a:spcBef>
              <a:spcAft>
                <a:spcPts val="0"/>
              </a:spcAft>
            </a:pPr>
            <a:r>
              <a:rPr sz="1050" b="0" i="0">
                <a:solidFill>
                  <a:srgbClr val="141413"/>
                </a:solidFill>
                <a:latin typeface="Calibri"/>
              </a:rPr>
              <a:t>à classe égale, la préfecture la plus peuplée passe devant</a:t>
            </a:r>
          </a:p>
        </p:txBody>
      </p:sp>
      <p:sp>
        <p:nvSpPr>
          <p:cNvPr id="28" name="Rounded Rectangle 27"/>
          <p:cNvSpPr/>
          <p:nvPr/>
        </p:nvSpPr>
        <p:spPr>
          <a:xfrm>
            <a:off x="502920" y="5815584"/>
            <a:ext cx="11185855" cy="475488"/>
          </a:xfrm>
          <a:prstGeom prst="roundRect">
            <a:avLst>
              <a:gd name="adj" fmla="val 1923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5870448"/>
            <a:ext cx="10710367" cy="365760"/>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FCE588"/>
                </a:solidFill>
                <a:latin typeface="Calibri"/>
              </a:rPr>
              <a:t>RECOMMANDATION  ·  </a:t>
            </a:r>
            <a:r>
              <a:rPr sz="1150" b="1" i="0">
                <a:solidFill>
                  <a:srgbClr val="FFFFFF"/>
                </a:solidFill>
                <a:latin typeface="Calibri"/>
              </a:rPr>
              <a:t>le classement fixe l’urgence, la population dimensionne l’effort, et chaque commune sans agence est traitée en priorité absolue.</a:t>
            </a:r>
          </a:p>
        </p:txBody>
      </p:sp>
      <p:sp>
        <p:nvSpPr>
          <p:cNvPr id="30" name="TextBox 29"/>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31" name="TextBox 30"/>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08 · PLAN D’ACTION</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9</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Par où commencer ?</a:t>
            </a:r>
          </a:p>
        </p:txBody>
      </p:sp>
      <p:sp>
        <p:nvSpPr>
          <p:cNvPr id="8" name="Rounded Rectangle 7"/>
          <p:cNvSpPr/>
          <p:nvPr/>
        </p:nvSpPr>
        <p:spPr>
          <a:xfrm>
            <a:off x="502920" y="1463040"/>
            <a:ext cx="11185855" cy="713232"/>
          </a:xfrm>
          <a:prstGeom prst="roundRect">
            <a:avLst>
              <a:gd name="adj" fmla="val 15384"/>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627632"/>
            <a:ext cx="402336" cy="402336"/>
          </a:xfrm>
          <a:prstGeom prst="roundRect">
            <a:avLst>
              <a:gd name="adj" fmla="val 28000"/>
            </a:avLst>
          </a:prstGeom>
          <a:solidFill>
            <a:srgbClr val="8A1C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1</a:t>
            </a:r>
          </a:p>
        </p:txBody>
      </p:sp>
      <p:sp>
        <p:nvSpPr>
          <p:cNvPr id="10" name="TextBox 9"/>
          <p:cNvSpPr txBox="1"/>
          <p:nvPr/>
        </p:nvSpPr>
        <p:spPr>
          <a:xfrm>
            <a:off x="1234440" y="1536192"/>
            <a:ext cx="3611880" cy="566928"/>
          </a:xfrm>
          <a:prstGeom prst="rect">
            <a:avLst/>
          </a:prstGeom>
          <a:noFill/>
        </p:spPr>
        <p:txBody>
          <a:bodyPr wrap="square" anchor="ctr" lIns="0" rIns="0" tIns="0" bIns="0">
            <a:noAutofit/>
          </a:bodyPr>
          <a:lstStyle/>
          <a:p>
            <a:pPr algn="l">
              <a:lnSpc>
                <a:spcPct val="102000"/>
              </a:lnSpc>
              <a:spcBef>
                <a:spcPts val="0"/>
              </a:spcBef>
              <a:spcAft>
                <a:spcPts val="0"/>
              </a:spcAft>
            </a:pPr>
            <a:r>
              <a:rPr sz="1200" b="1" i="0">
                <a:solidFill>
                  <a:srgbClr val="8A1C1B"/>
                </a:solidFill>
                <a:latin typeface="Calibri"/>
              </a:rPr>
              <a:t>Une agence financière dans chacune des 22 communes où le mobile money est seul</a:t>
            </a:r>
          </a:p>
        </p:txBody>
      </p:sp>
      <p:sp>
        <p:nvSpPr>
          <p:cNvPr id="11" name="TextBox 10"/>
          <p:cNvSpPr txBox="1"/>
          <p:nvPr/>
        </p:nvSpPr>
        <p:spPr>
          <a:xfrm>
            <a:off x="5029200" y="1536192"/>
            <a:ext cx="3794760" cy="566928"/>
          </a:xfrm>
          <a:prstGeom prst="rect">
            <a:avLst/>
          </a:prstGeom>
          <a:noFill/>
        </p:spPr>
        <p:txBody>
          <a:bodyPr wrap="square" anchor="ctr" lIns="0" rIns="0" tIns="0" bIns="0">
            <a:noAutofit/>
          </a:bodyPr>
          <a:lstStyle/>
          <a:p>
            <a:pPr algn="l">
              <a:lnSpc>
                <a:spcPct val="105000"/>
              </a:lnSpc>
              <a:spcBef>
                <a:spcPts val="0"/>
              </a:spcBef>
              <a:spcAft>
                <a:spcPts val="0"/>
              </a:spcAft>
            </a:pPr>
            <a:r>
              <a:rPr sz="1050" b="0" i="0">
                <a:solidFill>
                  <a:srgbClr val="141413"/>
                </a:solidFill>
                <a:latin typeface="Calibri"/>
              </a:rPr>
              <a:t>22 agences la première année, 34 à 3 ans ; d’abord les plus peuplées : Dankpen 3, Tône 4, Haho 3.</a:t>
            </a:r>
          </a:p>
        </p:txBody>
      </p:sp>
      <p:sp>
        <p:nvSpPr>
          <p:cNvPr id="12" name="Rounded Rectangle 11"/>
          <p:cNvSpPr/>
          <p:nvPr/>
        </p:nvSpPr>
        <p:spPr>
          <a:xfrm>
            <a:off x="9006840" y="1554480"/>
            <a:ext cx="453728"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1 an</a:t>
            </a:r>
          </a:p>
        </p:txBody>
      </p:sp>
      <p:sp>
        <p:nvSpPr>
          <p:cNvPr id="13" name="Rounded Rectangle 12"/>
          <p:cNvSpPr/>
          <p:nvPr/>
        </p:nvSpPr>
        <p:spPr>
          <a:xfrm>
            <a:off x="9533720" y="1554480"/>
            <a:ext cx="1053542" cy="201168"/>
          </a:xfrm>
          <a:prstGeom prst="roundRect">
            <a:avLst>
              <a:gd name="adj" fmla="val 50000"/>
            </a:avLst>
          </a:prstGeom>
          <a:solidFill>
            <a:srgbClr val="FBE3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8A1C1B"/>
                </a:solidFill>
                <a:latin typeface="Calibri"/>
              </a:rPr>
              <a:t>Priorité absolue</a:t>
            </a:r>
          </a:p>
        </p:txBody>
      </p:sp>
      <p:sp>
        <p:nvSpPr>
          <p:cNvPr id="14" name="TextBox 13"/>
          <p:cNvSpPr txBox="1"/>
          <p:nvPr/>
        </p:nvSpPr>
        <p:spPr>
          <a:xfrm>
            <a:off x="9006840" y="1792224"/>
            <a:ext cx="2535631" cy="20116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759 599 habitants</a:t>
            </a:r>
          </a:p>
        </p:txBody>
      </p:sp>
      <p:sp>
        <p:nvSpPr>
          <p:cNvPr id="15" name="TextBox 14"/>
          <p:cNvSpPr txBox="1"/>
          <p:nvPr/>
        </p:nvSpPr>
        <p:spPr>
          <a:xfrm>
            <a:off x="9006840" y="1975104"/>
            <a:ext cx="2535631" cy="18288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Banques, microfinance, assurances</a:t>
            </a:r>
          </a:p>
        </p:txBody>
      </p:sp>
      <p:sp>
        <p:nvSpPr>
          <p:cNvPr id="16" name="Rounded Rectangle 15"/>
          <p:cNvSpPr/>
          <p:nvPr/>
        </p:nvSpPr>
        <p:spPr>
          <a:xfrm>
            <a:off x="502920" y="2258568"/>
            <a:ext cx="11185855" cy="713232"/>
          </a:xfrm>
          <a:prstGeom prst="roundRect">
            <a:avLst>
              <a:gd name="adj" fmla="val 15384"/>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7512" y="2423160"/>
            <a:ext cx="402336" cy="40233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2</a:t>
            </a:r>
          </a:p>
        </p:txBody>
      </p:sp>
      <p:sp>
        <p:nvSpPr>
          <p:cNvPr id="18" name="TextBox 17"/>
          <p:cNvSpPr txBox="1"/>
          <p:nvPr/>
        </p:nvSpPr>
        <p:spPr>
          <a:xfrm>
            <a:off x="1234440" y="2331720"/>
            <a:ext cx="3611880" cy="566928"/>
          </a:xfrm>
          <a:prstGeom prst="rect">
            <a:avLst/>
          </a:prstGeom>
          <a:noFill/>
        </p:spPr>
        <p:txBody>
          <a:bodyPr wrap="square" anchor="ctr" lIns="0" rIns="0" tIns="0" bIns="0">
            <a:noAutofit/>
          </a:bodyPr>
          <a:lstStyle/>
          <a:p>
            <a:pPr algn="l">
              <a:lnSpc>
                <a:spcPct val="102000"/>
              </a:lnSpc>
              <a:spcBef>
                <a:spcPts val="0"/>
              </a:spcBef>
              <a:spcAft>
                <a:spcPts val="0"/>
              </a:spcAft>
            </a:pPr>
            <a:r>
              <a:rPr sz="1200" b="1" i="0">
                <a:solidFill>
                  <a:srgbClr val="0D366B"/>
                </a:solidFill>
                <a:latin typeface="Calibri"/>
              </a:rPr>
              <a:t>Mesurer la couverture réelle dans 14 communes</a:t>
            </a:r>
          </a:p>
        </p:txBody>
      </p:sp>
      <p:sp>
        <p:nvSpPr>
          <p:cNvPr id="19" name="TextBox 18"/>
          <p:cNvSpPr txBox="1"/>
          <p:nvPr/>
        </p:nvSpPr>
        <p:spPr>
          <a:xfrm>
            <a:off x="5029200" y="2331720"/>
            <a:ext cx="3794760" cy="566928"/>
          </a:xfrm>
          <a:prstGeom prst="rect">
            <a:avLst/>
          </a:prstGeom>
          <a:noFill/>
        </p:spPr>
        <p:txBody>
          <a:bodyPr wrap="square" anchor="ctr" lIns="0" rIns="0" tIns="0" bIns="0">
            <a:noAutofit/>
          </a:bodyPr>
          <a:lstStyle/>
          <a:p>
            <a:pPr algn="l">
              <a:lnSpc>
                <a:spcPct val="105000"/>
              </a:lnSpc>
              <a:spcBef>
                <a:spcPts val="0"/>
              </a:spcBef>
              <a:spcAft>
                <a:spcPts val="0"/>
              </a:spcAft>
            </a:pPr>
            <a:r>
              <a:rPr sz="1050" b="0" i="0">
                <a:solidFill>
                  <a:srgbClr val="141413"/>
                </a:solidFill>
                <a:latin typeface="Calibri"/>
              </a:rPr>
              <a:t>Dont toutes celles de Tchamba, Sotouboua, Kpendjal et Mô : un préalable à tout investissement dans le réseau.</a:t>
            </a:r>
          </a:p>
        </p:txBody>
      </p:sp>
      <p:sp>
        <p:nvSpPr>
          <p:cNvPr id="20" name="Rounded Rectangle 19"/>
          <p:cNvSpPr/>
          <p:nvPr/>
        </p:nvSpPr>
        <p:spPr>
          <a:xfrm>
            <a:off x="9006840" y="2350008"/>
            <a:ext cx="453728"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1 an</a:t>
            </a:r>
          </a:p>
        </p:txBody>
      </p:sp>
      <p:sp>
        <p:nvSpPr>
          <p:cNvPr id="21" name="Rounded Rectangle 20"/>
          <p:cNvSpPr/>
          <p:nvPr/>
        </p:nvSpPr>
        <p:spPr>
          <a:xfrm>
            <a:off x="9533720" y="2350008"/>
            <a:ext cx="717801" cy="201168"/>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0D366B"/>
                </a:solidFill>
                <a:latin typeface="Calibri"/>
              </a:rPr>
              <a:t>Préalable</a:t>
            </a:r>
          </a:p>
        </p:txBody>
      </p:sp>
      <p:sp>
        <p:nvSpPr>
          <p:cNvPr id="22" name="TextBox 21"/>
          <p:cNvSpPr txBox="1"/>
          <p:nvPr/>
        </p:nvSpPr>
        <p:spPr>
          <a:xfrm>
            <a:off x="9006840" y="2587752"/>
            <a:ext cx="2535631" cy="20116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689 181 habitants</a:t>
            </a:r>
          </a:p>
        </p:txBody>
      </p:sp>
      <p:sp>
        <p:nvSpPr>
          <p:cNvPr id="23" name="TextBox 22"/>
          <p:cNvSpPr txBox="1"/>
          <p:nvPr/>
        </p:nvSpPr>
        <p:spPr>
          <a:xfrm>
            <a:off x="9006840" y="2770632"/>
            <a:ext cx="2535631" cy="18288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Régulateur des télécoms, opérateurs</a:t>
            </a:r>
          </a:p>
        </p:txBody>
      </p:sp>
      <p:sp>
        <p:nvSpPr>
          <p:cNvPr id="24" name="Rounded Rectangle 23"/>
          <p:cNvSpPr/>
          <p:nvPr/>
        </p:nvSpPr>
        <p:spPr>
          <a:xfrm>
            <a:off x="502920" y="3054096"/>
            <a:ext cx="11185855" cy="713232"/>
          </a:xfrm>
          <a:prstGeom prst="roundRect">
            <a:avLst>
              <a:gd name="adj" fmla="val 15384"/>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7512" y="3218688"/>
            <a:ext cx="402336" cy="402336"/>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3</a:t>
            </a:r>
          </a:p>
        </p:txBody>
      </p:sp>
      <p:sp>
        <p:nvSpPr>
          <p:cNvPr id="26" name="TextBox 25"/>
          <p:cNvSpPr txBox="1"/>
          <p:nvPr/>
        </p:nvSpPr>
        <p:spPr>
          <a:xfrm>
            <a:off x="1234440" y="3127248"/>
            <a:ext cx="3611880" cy="566928"/>
          </a:xfrm>
          <a:prstGeom prst="rect">
            <a:avLst/>
          </a:prstGeom>
          <a:noFill/>
        </p:spPr>
        <p:txBody>
          <a:bodyPr wrap="square" anchor="ctr" lIns="0" rIns="0" tIns="0" bIns="0">
            <a:noAutofit/>
          </a:bodyPr>
          <a:lstStyle/>
          <a:p>
            <a:pPr algn="l">
              <a:lnSpc>
                <a:spcPct val="102000"/>
              </a:lnSpc>
              <a:spcBef>
                <a:spcPts val="0"/>
              </a:spcBef>
              <a:spcAft>
                <a:spcPts val="0"/>
              </a:spcAft>
            </a:pPr>
            <a:r>
              <a:rPr sz="1200" b="1" i="0">
                <a:solidFill>
                  <a:srgbClr val="0D366B"/>
                </a:solidFill>
                <a:latin typeface="Calibri"/>
              </a:rPr>
              <a:t>Des agences et des points mobile money dans les 10 préfectures prioritaires</a:t>
            </a:r>
          </a:p>
        </p:txBody>
      </p:sp>
      <p:sp>
        <p:nvSpPr>
          <p:cNvPr id="27" name="TextBox 26"/>
          <p:cNvSpPr txBox="1"/>
          <p:nvPr/>
        </p:nvSpPr>
        <p:spPr>
          <a:xfrm>
            <a:off x="5029200" y="3127248"/>
            <a:ext cx="3794760" cy="566928"/>
          </a:xfrm>
          <a:prstGeom prst="rect">
            <a:avLst/>
          </a:prstGeom>
          <a:noFill/>
        </p:spPr>
        <p:txBody>
          <a:bodyPr wrap="square" anchor="ctr" lIns="0" rIns="0" tIns="0" bIns="0">
            <a:noAutofit/>
          </a:bodyPr>
          <a:lstStyle/>
          <a:p>
            <a:pPr algn="l">
              <a:lnSpc>
                <a:spcPct val="105000"/>
              </a:lnSpc>
              <a:spcBef>
                <a:spcPts val="0"/>
              </a:spcBef>
              <a:spcAft>
                <a:spcPts val="0"/>
              </a:spcAft>
            </a:pPr>
            <a:r>
              <a:rPr sz="1050" b="0" i="0">
                <a:solidFill>
                  <a:srgbClr val="141413"/>
                </a:solidFill>
                <a:latin typeface="Calibri"/>
              </a:rPr>
              <a:t>38 agences, dont 7 comptées dans l’action 1 ; 152 points mobile money pour franchir un seuil de desserte.</a:t>
            </a:r>
          </a:p>
        </p:txBody>
      </p:sp>
      <p:sp>
        <p:nvSpPr>
          <p:cNvPr id="28" name="Rounded Rectangle 27"/>
          <p:cNvSpPr/>
          <p:nvPr/>
        </p:nvSpPr>
        <p:spPr>
          <a:xfrm>
            <a:off x="9006840" y="3145536"/>
            <a:ext cx="513758"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3 ans</a:t>
            </a:r>
          </a:p>
        </p:txBody>
      </p:sp>
      <p:sp>
        <p:nvSpPr>
          <p:cNvPr id="29" name="Rounded Rectangle 28"/>
          <p:cNvSpPr/>
          <p:nvPr/>
        </p:nvSpPr>
        <p:spPr>
          <a:xfrm>
            <a:off x="9593750" y="3145536"/>
            <a:ext cx="933532" cy="201168"/>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0D366B"/>
                </a:solidFill>
                <a:latin typeface="Calibri"/>
              </a:rPr>
              <a:t>Priorité haute</a:t>
            </a:r>
          </a:p>
        </p:txBody>
      </p:sp>
      <p:sp>
        <p:nvSpPr>
          <p:cNvPr id="30" name="TextBox 29"/>
          <p:cNvSpPr txBox="1"/>
          <p:nvPr/>
        </p:nvSpPr>
        <p:spPr>
          <a:xfrm>
            <a:off x="9006840" y="3383279"/>
            <a:ext cx="2535631" cy="20116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1 331 015 habitants</a:t>
            </a:r>
          </a:p>
        </p:txBody>
      </p:sp>
      <p:sp>
        <p:nvSpPr>
          <p:cNvPr id="31" name="TextBox 30"/>
          <p:cNvSpPr txBox="1"/>
          <p:nvPr/>
        </p:nvSpPr>
        <p:spPr>
          <a:xfrm>
            <a:off x="9006840" y="3566160"/>
            <a:ext cx="2535631" cy="18288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Établissements financiers, opérateurs</a:t>
            </a:r>
          </a:p>
        </p:txBody>
      </p:sp>
      <p:sp>
        <p:nvSpPr>
          <p:cNvPr id="32" name="Rounded Rectangle 31"/>
          <p:cNvSpPr/>
          <p:nvPr/>
        </p:nvSpPr>
        <p:spPr>
          <a:xfrm>
            <a:off x="502920" y="3849624"/>
            <a:ext cx="11185855" cy="713232"/>
          </a:xfrm>
          <a:prstGeom prst="roundRect">
            <a:avLst>
              <a:gd name="adj" fmla="val 15384"/>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7512" y="4014215"/>
            <a:ext cx="402336" cy="402336"/>
          </a:xfrm>
          <a:prstGeom prst="roundRect">
            <a:avLst>
              <a:gd name="adj" fmla="val 28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4</a:t>
            </a:r>
          </a:p>
        </p:txBody>
      </p:sp>
      <p:sp>
        <p:nvSpPr>
          <p:cNvPr id="34" name="TextBox 33"/>
          <p:cNvSpPr txBox="1"/>
          <p:nvPr/>
        </p:nvSpPr>
        <p:spPr>
          <a:xfrm>
            <a:off x="1234440" y="3922776"/>
            <a:ext cx="3611880" cy="566928"/>
          </a:xfrm>
          <a:prstGeom prst="rect">
            <a:avLst/>
          </a:prstGeom>
          <a:noFill/>
        </p:spPr>
        <p:txBody>
          <a:bodyPr wrap="square" anchor="ctr" lIns="0" rIns="0" tIns="0" bIns="0">
            <a:noAutofit/>
          </a:bodyPr>
          <a:lstStyle/>
          <a:p>
            <a:pPr algn="l">
              <a:lnSpc>
                <a:spcPct val="102000"/>
              </a:lnSpc>
              <a:spcBef>
                <a:spcPts val="0"/>
              </a:spcBef>
              <a:spcAft>
                <a:spcPts val="0"/>
              </a:spcAft>
            </a:pPr>
            <a:r>
              <a:rPr sz="1200" b="1" i="0">
                <a:solidFill>
                  <a:srgbClr val="4A3AA7"/>
                </a:solidFill>
                <a:latin typeface="Calibri"/>
              </a:rPr>
              <a:t>Étendre le réseau et la fibre, une fois la couverture mesurée</a:t>
            </a:r>
          </a:p>
        </p:txBody>
      </p:sp>
      <p:sp>
        <p:nvSpPr>
          <p:cNvPr id="35" name="TextBox 34"/>
          <p:cNvSpPr txBox="1"/>
          <p:nvPr/>
        </p:nvSpPr>
        <p:spPr>
          <a:xfrm>
            <a:off x="5029200" y="3922776"/>
            <a:ext cx="3794760" cy="566928"/>
          </a:xfrm>
          <a:prstGeom prst="rect">
            <a:avLst/>
          </a:prstGeom>
          <a:noFill/>
        </p:spPr>
        <p:txBody>
          <a:bodyPr wrap="square" anchor="ctr" lIns="0" rIns="0" tIns="0" bIns="0">
            <a:noAutofit/>
          </a:bodyPr>
          <a:lstStyle/>
          <a:p>
            <a:pPr algn="l">
              <a:lnSpc>
                <a:spcPct val="105000"/>
              </a:lnSpc>
              <a:spcBef>
                <a:spcPts val="0"/>
              </a:spcBef>
              <a:spcAft>
                <a:spcPts val="0"/>
              </a:spcAft>
            </a:pPr>
            <a:r>
              <a:rPr sz="1050" b="0" i="0">
                <a:solidFill>
                  <a:srgbClr val="141413"/>
                </a:solidFill>
                <a:latin typeface="Calibri"/>
              </a:rPr>
              <a:t>178 873 habitants de plus dans la couverture (6 préfectures) ; de la fibre dans les 8 préfectures sans fibre recensée.</a:t>
            </a:r>
          </a:p>
        </p:txBody>
      </p:sp>
      <p:sp>
        <p:nvSpPr>
          <p:cNvPr id="36" name="Rounded Rectangle 35"/>
          <p:cNvSpPr/>
          <p:nvPr/>
        </p:nvSpPr>
        <p:spPr>
          <a:xfrm>
            <a:off x="9006840" y="3941063"/>
            <a:ext cx="513758"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5 ans</a:t>
            </a:r>
          </a:p>
        </p:txBody>
      </p:sp>
      <p:sp>
        <p:nvSpPr>
          <p:cNvPr id="37" name="Rounded Rectangle 36"/>
          <p:cNvSpPr/>
          <p:nvPr/>
        </p:nvSpPr>
        <p:spPr>
          <a:xfrm>
            <a:off x="9593750" y="3941063"/>
            <a:ext cx="987271" cy="201168"/>
          </a:xfrm>
          <a:prstGeom prst="roundRect">
            <a:avLst>
              <a:gd name="adj" fmla="val 50000"/>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4A3AA7"/>
                </a:solidFill>
                <a:latin typeface="Calibri"/>
              </a:rPr>
              <a:t>Conditionnelle</a:t>
            </a:r>
          </a:p>
        </p:txBody>
      </p:sp>
      <p:sp>
        <p:nvSpPr>
          <p:cNvPr id="38" name="TextBox 37"/>
          <p:cNvSpPr txBox="1"/>
          <p:nvPr/>
        </p:nvSpPr>
        <p:spPr>
          <a:xfrm>
            <a:off x="9006840" y="4178808"/>
            <a:ext cx="2535631" cy="20116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347 866 hors couverture</a:t>
            </a:r>
          </a:p>
        </p:txBody>
      </p:sp>
      <p:sp>
        <p:nvSpPr>
          <p:cNvPr id="39" name="TextBox 38"/>
          <p:cNvSpPr txBox="1"/>
          <p:nvPr/>
        </p:nvSpPr>
        <p:spPr>
          <a:xfrm>
            <a:off x="9006840" y="4361688"/>
            <a:ext cx="2535631" cy="18288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Opérateurs, société d’infrastructures numériques</a:t>
            </a:r>
          </a:p>
        </p:txBody>
      </p:sp>
      <p:sp>
        <p:nvSpPr>
          <p:cNvPr id="40" name="Rounded Rectangle 39"/>
          <p:cNvSpPr/>
          <p:nvPr/>
        </p:nvSpPr>
        <p:spPr>
          <a:xfrm>
            <a:off x="502920" y="4645152"/>
            <a:ext cx="11185855" cy="713232"/>
          </a:xfrm>
          <a:prstGeom prst="roundRect">
            <a:avLst>
              <a:gd name="adj" fmla="val 15384"/>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67512" y="4809744"/>
            <a:ext cx="402336" cy="402336"/>
          </a:xfrm>
          <a:prstGeom prst="roundRect">
            <a:avLst>
              <a:gd name="adj" fmla="val 28000"/>
            </a:avLst>
          </a:prstGeom>
          <a:solidFill>
            <a:srgbClr val="B445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5</a:t>
            </a:r>
          </a:p>
        </p:txBody>
      </p:sp>
      <p:sp>
        <p:nvSpPr>
          <p:cNvPr id="42" name="TextBox 41"/>
          <p:cNvSpPr txBox="1"/>
          <p:nvPr/>
        </p:nvSpPr>
        <p:spPr>
          <a:xfrm>
            <a:off x="1234440" y="4718304"/>
            <a:ext cx="3611880" cy="566928"/>
          </a:xfrm>
          <a:prstGeom prst="rect">
            <a:avLst/>
          </a:prstGeom>
          <a:noFill/>
        </p:spPr>
        <p:txBody>
          <a:bodyPr wrap="square" anchor="ctr" lIns="0" rIns="0" tIns="0" bIns="0">
            <a:noAutofit/>
          </a:bodyPr>
          <a:lstStyle/>
          <a:p>
            <a:pPr algn="l">
              <a:lnSpc>
                <a:spcPct val="102000"/>
              </a:lnSpc>
              <a:spcBef>
                <a:spcPts val="0"/>
              </a:spcBef>
              <a:spcAft>
                <a:spcPts val="0"/>
              </a:spcAft>
            </a:pPr>
            <a:r>
              <a:rPr sz="1200" b="1" i="0">
                <a:solidFill>
                  <a:srgbClr val="B4451A"/>
                </a:solidFill>
                <a:latin typeface="Calibri"/>
              </a:rPr>
              <a:t>Rendre la data et le mobile money abordables, relever les compétences</a:t>
            </a:r>
          </a:p>
        </p:txBody>
      </p:sp>
      <p:sp>
        <p:nvSpPr>
          <p:cNvPr id="43" name="TextBox 42"/>
          <p:cNvSpPr txBox="1"/>
          <p:nvPr/>
        </p:nvSpPr>
        <p:spPr>
          <a:xfrm>
            <a:off x="5029200" y="4718304"/>
            <a:ext cx="3794760" cy="566928"/>
          </a:xfrm>
          <a:prstGeom prst="rect">
            <a:avLst/>
          </a:prstGeom>
          <a:noFill/>
        </p:spPr>
        <p:txBody>
          <a:bodyPr wrap="square" anchor="ctr" lIns="0" rIns="0" tIns="0" bIns="0">
            <a:noAutofit/>
          </a:bodyPr>
          <a:lstStyle/>
          <a:p>
            <a:pPr algn="l">
              <a:lnSpc>
                <a:spcPct val="105000"/>
              </a:lnSpc>
              <a:spcBef>
                <a:spcPts val="0"/>
              </a:spcBef>
              <a:spcAft>
                <a:spcPts val="0"/>
              </a:spcAft>
            </a:pPr>
            <a:r>
              <a:rPr sz="1050" b="0" i="0">
                <a:solidFill>
                  <a:srgbClr val="141413"/>
                </a:solidFill>
                <a:latin typeface="Calibri"/>
              </a:rPr>
              <a:t>1 Go : de 5,30 % à 2 % du revenu ; retrait de 1 000 FCFA : de 75 à 30 FCFA ; Savanes et Plateaux d’abord.</a:t>
            </a:r>
          </a:p>
        </p:txBody>
      </p:sp>
      <p:sp>
        <p:nvSpPr>
          <p:cNvPr id="44" name="Rounded Rectangle 43"/>
          <p:cNvSpPr/>
          <p:nvPr/>
        </p:nvSpPr>
        <p:spPr>
          <a:xfrm>
            <a:off x="9006840" y="4736592"/>
            <a:ext cx="513758" cy="201168"/>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5 ans</a:t>
            </a:r>
          </a:p>
        </p:txBody>
      </p:sp>
      <p:sp>
        <p:nvSpPr>
          <p:cNvPr id="45" name="Rounded Rectangle 44"/>
          <p:cNvSpPr/>
          <p:nvPr/>
        </p:nvSpPr>
        <p:spPr>
          <a:xfrm>
            <a:off x="9593750" y="4736592"/>
            <a:ext cx="663556" cy="201168"/>
          </a:xfrm>
          <a:prstGeom prst="roundRect">
            <a:avLst>
              <a:gd name="adj" fmla="val 50000"/>
            </a:avLst>
          </a:prstGeom>
          <a:solidFill>
            <a:srgbClr val="EF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3A3935"/>
                </a:solidFill>
                <a:latin typeface="Calibri"/>
              </a:rPr>
              <a:t>National</a:t>
            </a:r>
          </a:p>
        </p:txBody>
      </p:sp>
      <p:sp>
        <p:nvSpPr>
          <p:cNvPr id="46" name="TextBox 45"/>
          <p:cNvSpPr txBox="1"/>
          <p:nvPr/>
        </p:nvSpPr>
        <p:spPr>
          <a:xfrm>
            <a:off x="9006840" y="4974336"/>
            <a:ext cx="2535631" cy="201168"/>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141413"/>
                </a:solidFill>
                <a:latin typeface="Calibri"/>
              </a:rPr>
              <a:t>tout le pays</a:t>
            </a:r>
          </a:p>
        </p:txBody>
      </p:sp>
      <p:sp>
        <p:nvSpPr>
          <p:cNvPr id="47" name="TextBox 46"/>
          <p:cNvSpPr txBox="1"/>
          <p:nvPr/>
        </p:nvSpPr>
        <p:spPr>
          <a:xfrm>
            <a:off x="9006840" y="5157216"/>
            <a:ext cx="2535631" cy="18288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Régulateur, émetteurs, ministère du numérique</a:t>
            </a:r>
          </a:p>
        </p:txBody>
      </p:sp>
      <p:sp>
        <p:nvSpPr>
          <p:cNvPr id="48" name="TextBox 47"/>
          <p:cNvSpPr txBox="1"/>
          <p:nvPr/>
        </p:nvSpPr>
        <p:spPr>
          <a:xfrm>
            <a:off x="502920" y="5458967"/>
            <a:ext cx="11185855" cy="237744"/>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0D366B"/>
                </a:solidFill>
                <a:latin typeface="Calibri"/>
              </a:rPr>
              <a:t>Veilles annuelles : </a:t>
            </a:r>
            <a:r>
              <a:rPr sz="1000" b="0" i="0">
                <a:solidFill>
                  <a:srgbClr val="3A3935"/>
                </a:solidFill>
                <a:latin typeface="Calibri"/>
              </a:rPr>
              <a:t>investissement d’au moins 15 % du chiffre d’affaires (16,3 % en 2025) ; au moins 50 sites radio ajoutés par an (21 en 2025).</a:t>
            </a:r>
          </a:p>
        </p:txBody>
      </p:sp>
      <p:sp>
        <p:nvSpPr>
          <p:cNvPr id="49" name="Rounded Rectangle 48"/>
          <p:cNvSpPr/>
          <p:nvPr/>
        </p:nvSpPr>
        <p:spPr>
          <a:xfrm>
            <a:off x="502920" y="5788151"/>
            <a:ext cx="11185855" cy="475488"/>
          </a:xfrm>
          <a:prstGeom prst="roundRect">
            <a:avLst>
              <a:gd name="adj" fmla="val 1923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0664" y="5843015"/>
            <a:ext cx="10710367" cy="365760"/>
          </a:xfrm>
          <a:prstGeom prst="rect">
            <a:avLst/>
          </a:prstGeom>
          <a:noFill/>
        </p:spPr>
        <p:txBody>
          <a:bodyPr wrap="square" anchor="ctr" lIns="0" rIns="0" tIns="0" bIns="0">
            <a:noAutofit/>
          </a:bodyPr>
          <a:lstStyle/>
          <a:p>
            <a:pPr algn="l">
              <a:lnSpc>
                <a:spcPct val="105000"/>
              </a:lnSpc>
              <a:spcBef>
                <a:spcPts val="0"/>
              </a:spcBef>
              <a:spcAft>
                <a:spcPts val="0"/>
              </a:spcAft>
            </a:pPr>
            <a:r>
              <a:rPr sz="1050" b="1" i="0">
                <a:solidFill>
                  <a:srgbClr val="FCE588"/>
                </a:solidFill>
                <a:latin typeface="Calibri"/>
              </a:rPr>
              <a:t>RÈGLE D’ORDONNANCEMENT  ·  </a:t>
            </a:r>
            <a:r>
              <a:rPr sz="1150" b="1" i="0">
                <a:solidFill>
                  <a:srgbClr val="FFFFFF"/>
                </a:solidFill>
                <a:latin typeface="Calibri"/>
              </a:rPr>
              <a:t>ce qui est certain n’attend pas (agences, points mobile money) ; le réseau attend la mesure de la couverture réelle.</a:t>
            </a:r>
          </a:p>
        </p:txBody>
      </p:sp>
      <p:sp>
        <p:nvSpPr>
          <p:cNvPr id="51" name="TextBox 50"/>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12 recommandations au total ; les habitants ne s’additionnent pas d’une action à l’autre, les territoires se recoupent.</a:t>
            </a:r>
          </a:p>
        </p:txBody>
      </p:sp>
      <p:sp>
        <p:nvSpPr>
          <p:cNvPr id="52" name="TextBox 51"/>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moiries.png"/>
          <p:cNvPicPr>
            <a:picLocks noChangeAspect="1"/>
          </p:cNvPicPr>
          <p:nvPr/>
        </p:nvPicPr>
        <p:blipFill>
          <a:blip r:embed="rId2"/>
          <a:stretch>
            <a:fillRect/>
          </a:stretch>
        </p:blipFill>
        <p:spPr>
          <a:xfrm>
            <a:off x="502920" y="155448"/>
            <a:ext cx="402336" cy="353364"/>
          </a:xfrm>
          <a:prstGeom prst="rect">
            <a:avLst/>
          </a:prstGeom>
        </p:spPr>
      </p:pic>
      <p:sp>
        <p:nvSpPr>
          <p:cNvPr id="3" name="TextBox 2"/>
          <p:cNvSpPr txBox="1"/>
          <p:nvPr/>
        </p:nvSpPr>
        <p:spPr>
          <a:xfrm>
            <a:off x="1014984" y="182880"/>
            <a:ext cx="5669280" cy="292608"/>
          </a:xfrm>
          <a:prstGeom prst="rect">
            <a:avLst/>
          </a:prstGeom>
          <a:noFill/>
        </p:spPr>
        <p:txBody>
          <a:bodyPr wrap="square" anchor="ctr" lIns="0" rIns="0" tIns="0" bIns="0">
            <a:noAutofit/>
          </a:bodyPr>
          <a:lstStyle/>
          <a:p>
            <a:pPr algn="l">
              <a:lnSpc>
                <a:spcPct val="100000"/>
              </a:lnSpc>
              <a:spcBef>
                <a:spcPts val="0"/>
              </a:spcBef>
              <a:spcAft>
                <a:spcPts val="0"/>
              </a:spcAft>
            </a:pPr>
            <a:r>
              <a:rPr sz="1000" b="1" i="0">
                <a:solidFill>
                  <a:srgbClr val="0D366B"/>
                </a:solidFill>
                <a:latin typeface="Calibri"/>
              </a:rPr>
              <a:t>TOGO DIGITAL &amp; FINANCIAL INCLUSION</a:t>
            </a:r>
          </a:p>
        </p:txBody>
      </p:sp>
      <p:sp>
        <p:nvSpPr>
          <p:cNvPr id="4" name="TextBox 3"/>
          <p:cNvSpPr txBox="1"/>
          <p:nvPr/>
        </p:nvSpPr>
        <p:spPr>
          <a:xfrm>
            <a:off x="6568135" y="182880"/>
            <a:ext cx="5120640" cy="292608"/>
          </a:xfrm>
          <a:prstGeom prst="rect">
            <a:avLst/>
          </a:prstGeom>
          <a:noFill/>
        </p:spPr>
        <p:txBody>
          <a:bodyPr wrap="square" anchor="ctr" lIns="0" rIns="0" tIns="0" bIns="0">
            <a:noAutofit/>
          </a:bodyPr>
          <a:lstStyle/>
          <a:p>
            <a:pPr algn="r">
              <a:lnSpc>
                <a:spcPct val="100000"/>
              </a:lnSpc>
              <a:spcBef>
                <a:spcPts val="0"/>
              </a:spcBef>
              <a:spcAft>
                <a:spcPts val="0"/>
              </a:spcAft>
            </a:pPr>
            <a:r>
              <a:rPr sz="950" b="0" i="0">
                <a:solidFill>
                  <a:srgbClr val="55534E"/>
                </a:solidFill>
                <a:latin typeface="Calibri"/>
              </a:rPr>
              <a:t>Rapport de synthèse · Économie numérique — Défi 2</a:t>
            </a:r>
          </a:p>
        </p:txBody>
      </p:sp>
      <p:sp>
        <p:nvSpPr>
          <p:cNvPr id="5" name="TextBox 4"/>
          <p:cNvSpPr txBox="1"/>
          <p:nvPr/>
        </p:nvSpPr>
        <p:spPr>
          <a:xfrm>
            <a:off x="502920" y="640080"/>
            <a:ext cx="8229600"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09 · CONCLUSION</a:t>
            </a:r>
          </a:p>
        </p:txBody>
      </p:sp>
      <p:sp>
        <p:nvSpPr>
          <p:cNvPr id="6" name="TextBox 5"/>
          <p:cNvSpPr txBox="1"/>
          <p:nvPr/>
        </p:nvSpPr>
        <p:spPr>
          <a:xfrm>
            <a:off x="10957255" y="603504"/>
            <a:ext cx="731520" cy="274320"/>
          </a:xfrm>
          <a:prstGeom prst="rect">
            <a:avLst/>
          </a:prstGeom>
          <a:noFill/>
        </p:spPr>
        <p:txBody>
          <a:bodyPr wrap="square" anchor="t" lIns="0" rIns="0" tIns="0" bIns="0">
            <a:noAutofit/>
          </a:bodyPr>
          <a:lstStyle/>
          <a:p>
            <a:pPr algn="r">
              <a:lnSpc>
                <a:spcPct val="100000"/>
              </a:lnSpc>
              <a:spcBef>
                <a:spcPts val="0"/>
              </a:spcBef>
              <a:spcAft>
                <a:spcPts val="0"/>
              </a:spcAft>
            </a:pPr>
            <a:r>
              <a:rPr sz="1400" b="1" i="0">
                <a:solidFill>
                  <a:srgbClr val="B9B6AD"/>
                </a:solidFill>
                <a:latin typeface="Calibri"/>
              </a:rPr>
              <a:t>10</a:t>
            </a:r>
          </a:p>
        </p:txBody>
      </p:sp>
      <p:sp>
        <p:nvSpPr>
          <p:cNvPr id="7" name="TextBox 6"/>
          <p:cNvSpPr txBox="1"/>
          <p:nvPr/>
        </p:nvSpPr>
        <p:spPr>
          <a:xfrm>
            <a:off x="502920" y="868680"/>
            <a:ext cx="11185855" cy="475488"/>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141413"/>
                </a:solidFill>
                <a:latin typeface="Cambria"/>
              </a:rPr>
              <a:t>Les quatre décisions à engager</a:t>
            </a:r>
          </a:p>
        </p:txBody>
      </p:sp>
      <p:sp>
        <p:nvSpPr>
          <p:cNvPr id="8" name="Rounded Rectangle 7"/>
          <p:cNvSpPr/>
          <p:nvPr/>
        </p:nvSpPr>
        <p:spPr>
          <a:xfrm>
            <a:off x="502920" y="1463040"/>
            <a:ext cx="2645587" cy="1700784"/>
          </a:xfrm>
          <a:prstGeom prst="roundRect">
            <a:avLst>
              <a:gd name="adj" fmla="val 6451"/>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45920"/>
            <a:ext cx="365760" cy="365760"/>
          </a:xfrm>
          <a:prstGeom prst="roundRect">
            <a:avLst>
              <a:gd name="adj" fmla="val 28000"/>
            </a:avLst>
          </a:prstGeom>
          <a:solidFill>
            <a:srgbClr val="8A1C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mbria"/>
              </a:rPr>
              <a:t>1</a:t>
            </a:r>
          </a:p>
        </p:txBody>
      </p:sp>
      <p:sp>
        <p:nvSpPr>
          <p:cNvPr id="10" name="Rounded Rectangle 9"/>
          <p:cNvSpPr/>
          <p:nvPr/>
        </p:nvSpPr>
        <p:spPr>
          <a:xfrm>
            <a:off x="2074027" y="1719072"/>
            <a:ext cx="891600" cy="21945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dans l’année</a:t>
            </a:r>
          </a:p>
        </p:txBody>
      </p:sp>
      <p:sp>
        <p:nvSpPr>
          <p:cNvPr id="11" name="TextBox 10"/>
          <p:cNvSpPr txBox="1"/>
          <p:nvPr/>
        </p:nvSpPr>
        <p:spPr>
          <a:xfrm>
            <a:off x="685800" y="2103120"/>
            <a:ext cx="2279827"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8A1C1B"/>
                </a:solidFill>
                <a:latin typeface="Cambria"/>
              </a:rPr>
              <a:t>Ouvrir</a:t>
            </a:r>
          </a:p>
        </p:txBody>
      </p:sp>
      <p:sp>
        <p:nvSpPr>
          <p:cNvPr id="12" name="TextBox 11"/>
          <p:cNvSpPr txBox="1"/>
          <p:nvPr/>
        </p:nvSpPr>
        <p:spPr>
          <a:xfrm>
            <a:off x="685800" y="2468880"/>
            <a:ext cx="2279827" cy="603504"/>
          </a:xfrm>
          <a:prstGeom prst="rect">
            <a:avLst/>
          </a:prstGeom>
          <a:noFill/>
        </p:spPr>
        <p:txBody>
          <a:bodyPr wrap="square" anchor="t" lIns="0" rIns="0" tIns="0" bIns="0">
            <a:noAutofit/>
          </a:bodyPr>
          <a:lstStyle/>
          <a:p>
            <a:pPr algn="l">
              <a:lnSpc>
                <a:spcPct val="106000"/>
              </a:lnSpc>
              <a:spcBef>
                <a:spcPts val="0"/>
              </a:spcBef>
              <a:spcAft>
                <a:spcPts val="0"/>
              </a:spcAft>
            </a:pPr>
            <a:r>
              <a:rPr sz="1050" b="0" i="0">
                <a:solidFill>
                  <a:srgbClr val="141413"/>
                </a:solidFill>
                <a:latin typeface="Calibri"/>
              </a:rPr>
              <a:t>une première agence financière dans les 22 communes où le mobile money est seul.</a:t>
            </a:r>
          </a:p>
        </p:txBody>
      </p:sp>
      <p:sp>
        <p:nvSpPr>
          <p:cNvPr id="13" name="Rounded Rectangle 12"/>
          <p:cNvSpPr/>
          <p:nvPr/>
        </p:nvSpPr>
        <p:spPr>
          <a:xfrm>
            <a:off x="3349675" y="1463040"/>
            <a:ext cx="2645587" cy="1700784"/>
          </a:xfrm>
          <a:prstGeom prst="roundRect">
            <a:avLst>
              <a:gd name="adj" fmla="val 6451"/>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32555" y="1645920"/>
            <a:ext cx="365760" cy="365760"/>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mbria"/>
              </a:rPr>
              <a:t>2</a:t>
            </a:r>
          </a:p>
        </p:txBody>
      </p:sp>
      <p:sp>
        <p:nvSpPr>
          <p:cNvPr id="15" name="Rounded Rectangle 14"/>
          <p:cNvSpPr/>
          <p:nvPr/>
        </p:nvSpPr>
        <p:spPr>
          <a:xfrm>
            <a:off x="4920783" y="1719072"/>
            <a:ext cx="891600" cy="21945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dans l’année</a:t>
            </a:r>
          </a:p>
        </p:txBody>
      </p:sp>
      <p:sp>
        <p:nvSpPr>
          <p:cNvPr id="16" name="TextBox 15"/>
          <p:cNvSpPr txBox="1"/>
          <p:nvPr/>
        </p:nvSpPr>
        <p:spPr>
          <a:xfrm>
            <a:off x="3532555" y="2103120"/>
            <a:ext cx="2279827"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0D366B"/>
                </a:solidFill>
                <a:latin typeface="Cambria"/>
              </a:rPr>
              <a:t>Mesurer</a:t>
            </a:r>
          </a:p>
        </p:txBody>
      </p:sp>
      <p:sp>
        <p:nvSpPr>
          <p:cNvPr id="17" name="TextBox 16"/>
          <p:cNvSpPr txBox="1"/>
          <p:nvPr/>
        </p:nvSpPr>
        <p:spPr>
          <a:xfrm>
            <a:off x="3532555" y="2468880"/>
            <a:ext cx="2279827" cy="603504"/>
          </a:xfrm>
          <a:prstGeom prst="rect">
            <a:avLst/>
          </a:prstGeom>
          <a:noFill/>
        </p:spPr>
        <p:txBody>
          <a:bodyPr wrap="square" anchor="t" lIns="0" rIns="0" tIns="0" bIns="0">
            <a:noAutofit/>
          </a:bodyPr>
          <a:lstStyle/>
          <a:p>
            <a:pPr algn="l">
              <a:lnSpc>
                <a:spcPct val="106000"/>
              </a:lnSpc>
              <a:spcBef>
                <a:spcPts val="0"/>
              </a:spcBef>
              <a:spcAft>
                <a:spcPts val="0"/>
              </a:spcAft>
            </a:pPr>
            <a:r>
              <a:rPr sz="1050" b="0" i="0">
                <a:solidFill>
                  <a:srgbClr val="141413"/>
                </a:solidFill>
                <a:latin typeface="Calibri"/>
              </a:rPr>
              <a:t>la couverture réelle dans 14 communes, avant tout investissement dans le réseau.</a:t>
            </a:r>
          </a:p>
        </p:txBody>
      </p:sp>
      <p:sp>
        <p:nvSpPr>
          <p:cNvPr id="18" name="Rounded Rectangle 17"/>
          <p:cNvSpPr/>
          <p:nvPr/>
        </p:nvSpPr>
        <p:spPr>
          <a:xfrm>
            <a:off x="6196431" y="1463040"/>
            <a:ext cx="2645587" cy="1700784"/>
          </a:xfrm>
          <a:prstGeom prst="roundRect">
            <a:avLst>
              <a:gd name="adj" fmla="val 6451"/>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79311" y="1645920"/>
            <a:ext cx="365760" cy="365760"/>
          </a:xfrm>
          <a:prstGeom prst="roundRect">
            <a:avLst>
              <a:gd name="adj" fmla="val 2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mbria"/>
              </a:rPr>
              <a:t>3</a:t>
            </a:r>
          </a:p>
        </p:txBody>
      </p:sp>
      <p:sp>
        <p:nvSpPr>
          <p:cNvPr id="20" name="Rounded Rectangle 19"/>
          <p:cNvSpPr/>
          <p:nvPr/>
        </p:nvSpPr>
        <p:spPr>
          <a:xfrm>
            <a:off x="8055360" y="1719072"/>
            <a:ext cx="603778" cy="21945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à 3 ans</a:t>
            </a:r>
          </a:p>
        </p:txBody>
      </p:sp>
      <p:sp>
        <p:nvSpPr>
          <p:cNvPr id="21" name="TextBox 20"/>
          <p:cNvSpPr txBox="1"/>
          <p:nvPr/>
        </p:nvSpPr>
        <p:spPr>
          <a:xfrm>
            <a:off x="6379311" y="2103120"/>
            <a:ext cx="2279827"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0D366B"/>
                </a:solidFill>
                <a:latin typeface="Cambria"/>
              </a:rPr>
              <a:t>Densifier</a:t>
            </a:r>
          </a:p>
        </p:txBody>
      </p:sp>
      <p:sp>
        <p:nvSpPr>
          <p:cNvPr id="22" name="TextBox 21"/>
          <p:cNvSpPr txBox="1"/>
          <p:nvPr/>
        </p:nvSpPr>
        <p:spPr>
          <a:xfrm>
            <a:off x="6379311" y="2468880"/>
            <a:ext cx="2279827" cy="603504"/>
          </a:xfrm>
          <a:prstGeom prst="rect">
            <a:avLst/>
          </a:prstGeom>
          <a:noFill/>
        </p:spPr>
        <p:txBody>
          <a:bodyPr wrap="square" anchor="t" lIns="0" rIns="0" tIns="0" bIns="0">
            <a:noAutofit/>
          </a:bodyPr>
          <a:lstStyle/>
          <a:p>
            <a:pPr algn="l">
              <a:lnSpc>
                <a:spcPct val="106000"/>
              </a:lnSpc>
              <a:spcBef>
                <a:spcPts val="0"/>
              </a:spcBef>
              <a:spcAft>
                <a:spcPts val="0"/>
              </a:spcAft>
            </a:pPr>
            <a:r>
              <a:rPr sz="1050" b="0" i="0">
                <a:solidFill>
                  <a:srgbClr val="141413"/>
                </a:solidFill>
                <a:latin typeface="Calibri"/>
              </a:rPr>
              <a:t>agences et points mobile money dans les 10 préfectures prioritaires, toutes hors du Maritime.</a:t>
            </a:r>
          </a:p>
        </p:txBody>
      </p:sp>
      <p:sp>
        <p:nvSpPr>
          <p:cNvPr id="23" name="Rounded Rectangle 22"/>
          <p:cNvSpPr/>
          <p:nvPr/>
        </p:nvSpPr>
        <p:spPr>
          <a:xfrm>
            <a:off x="9043187" y="1463040"/>
            <a:ext cx="2645587" cy="1700784"/>
          </a:xfrm>
          <a:prstGeom prst="roundRect">
            <a:avLst>
              <a:gd name="adj" fmla="val 6451"/>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26067" y="1645920"/>
            <a:ext cx="365760" cy="365760"/>
          </a:xfrm>
          <a:prstGeom prst="roundRect">
            <a:avLst>
              <a:gd name="adj" fmla="val 28000"/>
            </a:avLst>
          </a:prstGeom>
          <a:solidFill>
            <a:srgbClr val="B445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mbria"/>
              </a:rPr>
              <a:t>4</a:t>
            </a:r>
          </a:p>
        </p:txBody>
      </p:sp>
      <p:sp>
        <p:nvSpPr>
          <p:cNvPr id="25" name="Rounded Rectangle 24"/>
          <p:cNvSpPr/>
          <p:nvPr/>
        </p:nvSpPr>
        <p:spPr>
          <a:xfrm>
            <a:off x="10902116" y="1719072"/>
            <a:ext cx="603778" cy="21945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a:solidFill>
                  <a:srgbClr val="6B4700"/>
                </a:solidFill>
                <a:latin typeface="Calibri"/>
              </a:rPr>
              <a:t>à 5 ans</a:t>
            </a:r>
          </a:p>
        </p:txBody>
      </p:sp>
      <p:sp>
        <p:nvSpPr>
          <p:cNvPr id="26" name="TextBox 25"/>
          <p:cNvSpPr txBox="1"/>
          <p:nvPr/>
        </p:nvSpPr>
        <p:spPr>
          <a:xfrm>
            <a:off x="9226067" y="2103120"/>
            <a:ext cx="2279827"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B4451A"/>
                </a:solidFill>
                <a:latin typeface="Cambria"/>
              </a:rPr>
              <a:t>Rendre abordable</a:t>
            </a:r>
          </a:p>
        </p:txBody>
      </p:sp>
      <p:sp>
        <p:nvSpPr>
          <p:cNvPr id="27" name="TextBox 26"/>
          <p:cNvSpPr txBox="1"/>
          <p:nvPr/>
        </p:nvSpPr>
        <p:spPr>
          <a:xfrm>
            <a:off x="9226067" y="2468880"/>
            <a:ext cx="2279827" cy="603504"/>
          </a:xfrm>
          <a:prstGeom prst="rect">
            <a:avLst/>
          </a:prstGeom>
          <a:noFill/>
        </p:spPr>
        <p:txBody>
          <a:bodyPr wrap="square" anchor="t" lIns="0" rIns="0" tIns="0" bIns="0">
            <a:noAutofit/>
          </a:bodyPr>
          <a:lstStyle/>
          <a:p>
            <a:pPr algn="l">
              <a:lnSpc>
                <a:spcPct val="106000"/>
              </a:lnSpc>
              <a:spcBef>
                <a:spcPts val="0"/>
              </a:spcBef>
              <a:spcAft>
                <a:spcPts val="0"/>
              </a:spcAft>
            </a:pPr>
            <a:r>
              <a:rPr sz="1050" b="0" i="0">
                <a:solidFill>
                  <a:srgbClr val="141413"/>
                </a:solidFill>
                <a:latin typeface="Calibri"/>
              </a:rPr>
              <a:t>la data (1 Go sous 2 % du revenu) et le petit retrait (sous 3 % du montant), partout.</a:t>
            </a:r>
          </a:p>
        </p:txBody>
      </p:sp>
      <p:sp>
        <p:nvSpPr>
          <p:cNvPr id="28" name="Rounded Rectangle 27"/>
          <p:cNvSpPr/>
          <p:nvPr/>
        </p:nvSpPr>
        <p:spPr>
          <a:xfrm>
            <a:off x="502920" y="3401568"/>
            <a:ext cx="7040880" cy="1847088"/>
          </a:xfrm>
          <a:prstGeom prst="roundRect">
            <a:avLst>
              <a:gd name="adj" fmla="val 5940"/>
            </a:avLst>
          </a:prstGeom>
          <a:solidFill>
            <a:srgbClr val="FDF3D7"/>
          </a:solidFill>
          <a:ln w="9525">
            <a:solidFill>
              <a:srgbClr val="ECD2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3529584"/>
            <a:ext cx="6601968"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6B4700"/>
                </a:solidFill>
                <a:latin typeface="Calibri"/>
              </a:rPr>
              <a:t>CE QUE L’ANALYSE NE DIT PAS</a:t>
            </a:r>
          </a:p>
        </p:txBody>
      </p:sp>
      <p:sp>
        <p:nvSpPr>
          <p:cNvPr id="30" name="TextBox 29"/>
          <p:cNvSpPr txBox="1"/>
          <p:nvPr/>
        </p:nvSpPr>
        <p:spPr>
          <a:xfrm>
            <a:off x="722376" y="3803904"/>
            <a:ext cx="6601968" cy="969264"/>
          </a:xfrm>
          <a:prstGeom prst="rect">
            <a:avLst/>
          </a:prstGeom>
          <a:noFill/>
        </p:spPr>
        <p:txBody>
          <a:bodyPr wrap="square" anchor="t" lIns="0" rIns="0" tIns="0" bIns="0">
            <a:noAutofit/>
          </a:bodyPr>
          <a:lstStyle/>
          <a:p>
            <a:pPr algn="l">
              <a:lnSpc>
                <a:spcPct val="100000"/>
              </a:lnSpc>
              <a:spcBef>
                <a:spcPts val="0"/>
              </a:spcBef>
              <a:spcAft>
                <a:spcPts val="300"/>
              </a:spcAft>
            </a:pPr>
            <a:r>
              <a:rPr sz="1050" b="0" i="0">
                <a:solidFill>
                  <a:srgbClr val="141413"/>
                </a:solidFill>
                <a:latin typeface="Calibri"/>
              </a:rPr>
              <a:t>•  La couverture est théorique : à mesurer avant d’investir dans le réseau.</a:t>
            </a:r>
          </a:p>
          <a:p>
            <a:pPr algn="l">
              <a:lnSpc>
                <a:spcPct val="100000"/>
              </a:lnSpc>
              <a:spcBef>
                <a:spcPts val="0"/>
              </a:spcBef>
              <a:spcAft>
                <a:spcPts val="300"/>
              </a:spcAft>
            </a:pPr>
            <a:r>
              <a:rPr sz="1050" b="0" i="0">
                <a:solidFill>
                  <a:srgbClr val="141413"/>
                </a:solidFill>
                <a:latin typeface="Calibri"/>
              </a:rPr>
              <a:t>•  L’usage d’Internet et du mobile money n’est connu que par région.</a:t>
            </a:r>
          </a:p>
          <a:p>
            <a:pPr algn="l">
              <a:lnSpc>
                <a:spcPct val="100000"/>
              </a:lnSpc>
              <a:spcBef>
                <a:spcPts val="0"/>
              </a:spcBef>
              <a:spcAft>
                <a:spcPts val="300"/>
              </a:spcAft>
            </a:pPr>
            <a:r>
              <a:rPr sz="1050" b="0" i="0">
                <a:solidFill>
                  <a:srgbClr val="141413"/>
                </a:solidFill>
                <a:latin typeface="Calibri"/>
              </a:rPr>
              <a:t>•  Des points de service recensés en 2021/2022 : des lieux, pas des agents.</a:t>
            </a:r>
          </a:p>
          <a:p>
            <a:pPr algn="l">
              <a:lnSpc>
                <a:spcPct val="100000"/>
              </a:lnSpc>
              <a:spcBef>
                <a:spcPts val="0"/>
              </a:spcBef>
              <a:spcAft>
                <a:spcPts val="300"/>
              </a:spcAft>
            </a:pPr>
            <a:r>
              <a:rPr sz="1050" b="0" i="0">
                <a:solidFill>
                  <a:srgbClr val="141413"/>
                </a:solidFill>
                <a:latin typeface="Calibri"/>
              </a:rPr>
              <a:t>•  Aucun coût : des volumes (agences, points, habitants), pas des budgets.</a:t>
            </a:r>
          </a:p>
        </p:txBody>
      </p:sp>
      <p:sp>
        <p:nvSpPr>
          <p:cNvPr id="31" name="TextBox 30"/>
          <p:cNvSpPr txBox="1"/>
          <p:nvPr/>
        </p:nvSpPr>
        <p:spPr>
          <a:xfrm>
            <a:off x="722376" y="4828031"/>
            <a:ext cx="6601968" cy="329184"/>
          </a:xfrm>
          <a:prstGeom prst="rect">
            <a:avLst/>
          </a:prstGeom>
          <a:noFill/>
        </p:spPr>
        <p:txBody>
          <a:bodyPr wrap="square" anchor="t" lIns="0" rIns="0" tIns="0" bIns="0">
            <a:noAutofit/>
          </a:bodyPr>
          <a:lstStyle/>
          <a:p>
            <a:pPr algn="l">
              <a:lnSpc>
                <a:spcPct val="100000"/>
              </a:lnSpc>
              <a:spcBef>
                <a:spcPts val="0"/>
              </a:spcBef>
              <a:spcAft>
                <a:spcPts val="0"/>
              </a:spcAft>
            </a:pPr>
            <a:r>
              <a:rPr sz="1050" b="1" i="0">
                <a:solidFill>
                  <a:srgbClr val="6B4700"/>
                </a:solidFill>
                <a:latin typeface="Calibri"/>
              </a:rPr>
              <a:t>L’analyse dit où agir et sur quel manque ; elle ne chiffre pas encore le coût des investissements.</a:t>
            </a:r>
          </a:p>
        </p:txBody>
      </p:sp>
      <p:sp>
        <p:nvSpPr>
          <p:cNvPr id="32" name="Rounded Rectangle 31"/>
          <p:cNvSpPr/>
          <p:nvPr/>
        </p:nvSpPr>
        <p:spPr>
          <a:xfrm>
            <a:off x="7772400" y="3401568"/>
            <a:ext cx="3916375" cy="1847088"/>
          </a:xfrm>
          <a:prstGeom prst="roundRect">
            <a:avLst>
              <a:gd name="adj" fmla="val 5940"/>
            </a:avLst>
          </a:prstGeom>
          <a:solidFill>
            <a:srgbClr val="FFFFFF"/>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73568" y="3529584"/>
            <a:ext cx="3514039" cy="219456"/>
          </a:xfrm>
          <a:prstGeom prst="rect">
            <a:avLst/>
          </a:prstGeom>
          <a:noFill/>
        </p:spPr>
        <p:txBody>
          <a:bodyPr wrap="square" anchor="t" lIns="0" rIns="0" tIns="0" bIns="0">
            <a:noAutofit/>
          </a:bodyPr>
          <a:lstStyle/>
          <a:p>
            <a:pPr algn="l">
              <a:lnSpc>
                <a:spcPct val="100000"/>
              </a:lnSpc>
              <a:spcBef>
                <a:spcPts val="0"/>
              </a:spcBef>
              <a:spcAft>
                <a:spcPts val="0"/>
              </a:spcAft>
            </a:pPr>
            <a:r>
              <a:rPr sz="1000" b="1" i="0">
                <a:solidFill>
                  <a:srgbClr val="AB6300"/>
                </a:solidFill>
                <a:latin typeface="Calibri"/>
              </a:rPr>
              <a:t>EXPLORER LE DÉTAIL</a:t>
            </a:r>
          </a:p>
        </p:txBody>
      </p:sp>
      <p:sp>
        <p:nvSpPr>
          <p:cNvPr id="34" name="TextBox 33"/>
          <p:cNvSpPr txBox="1"/>
          <p:nvPr/>
        </p:nvSpPr>
        <p:spPr>
          <a:xfrm>
            <a:off x="7973568" y="3785615"/>
            <a:ext cx="3514039"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0D366B"/>
                </a:solidFill>
                <a:latin typeface="Cambria"/>
              </a:rPr>
              <a:t>Tableau de bord interactif</a:t>
            </a:r>
          </a:p>
        </p:txBody>
      </p:sp>
      <p:sp>
        <p:nvSpPr>
          <p:cNvPr id="35" name="TextBox 34"/>
          <p:cNvSpPr txBox="1"/>
          <p:nvPr/>
        </p:nvSpPr>
        <p:spPr>
          <a:xfrm>
            <a:off x="7973568" y="4133087"/>
            <a:ext cx="3514039" cy="256032"/>
          </a:xfrm>
          <a:prstGeom prst="rect">
            <a:avLst/>
          </a:prstGeom>
          <a:noFill/>
        </p:spPr>
        <p:txBody>
          <a:bodyPr wrap="none" lIns="0" rIns="0" tIns="0" bIns="0">
            <a:spAutoFit/>
          </a:bodyPr>
          <a:lstStyle/>
          <a:p>
            <a:r>
              <a:rPr sz="950" b="1" i="0" u="sng">
                <a:solidFill>
                  <a:srgbClr val="0D366B"/>
                </a:solidFill>
                <a:latin typeface="Calibri"/>
                <a:hlinkClick r:id="rId3"/>
              </a:rPr>
              <a:t>togo-econum-finance-defi2-5d98fee2ba7c.herokuapp.com</a:t>
            </a:r>
          </a:p>
        </p:txBody>
      </p:sp>
      <p:sp>
        <p:nvSpPr>
          <p:cNvPr id="36" name="TextBox 35"/>
          <p:cNvSpPr txBox="1"/>
          <p:nvPr/>
        </p:nvSpPr>
        <p:spPr>
          <a:xfrm>
            <a:off x="7973568" y="4443983"/>
            <a:ext cx="3514039" cy="713232"/>
          </a:xfrm>
          <a:prstGeom prst="rect">
            <a:avLst/>
          </a:prstGeom>
          <a:noFill/>
        </p:spPr>
        <p:txBody>
          <a:bodyPr wrap="square" anchor="t" lIns="0" rIns="0" tIns="0" bIns="0">
            <a:noAutofit/>
          </a:bodyPr>
          <a:lstStyle/>
          <a:p>
            <a:pPr algn="l">
              <a:lnSpc>
                <a:spcPct val="105000"/>
              </a:lnSpc>
              <a:spcBef>
                <a:spcPts val="0"/>
              </a:spcBef>
              <a:spcAft>
                <a:spcPts val="0"/>
              </a:spcAft>
            </a:pPr>
            <a:r>
              <a:rPr sz="1000" b="0" i="0">
                <a:solidFill>
                  <a:srgbClr val="3A3935"/>
                </a:solidFill>
                <a:latin typeface="Calibri"/>
              </a:rPr>
              <a:t>Filtrer par région, par priorité et par milieu ; la fiche de chaque préfecture ; en français et en anglais.</a:t>
            </a:r>
          </a:p>
        </p:txBody>
      </p:sp>
      <p:sp>
        <p:nvSpPr>
          <p:cNvPr id="37" name="Rounded Rectangle 36"/>
          <p:cNvSpPr/>
          <p:nvPr/>
        </p:nvSpPr>
        <p:spPr>
          <a:xfrm>
            <a:off x="502920" y="5449824"/>
            <a:ext cx="11185855" cy="603504"/>
          </a:xfrm>
          <a:prstGeom prst="roundRect">
            <a:avLst>
              <a:gd name="adj" fmla="val 15151"/>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5504688"/>
            <a:ext cx="10710367" cy="493776"/>
          </a:xfrm>
          <a:prstGeom prst="rect">
            <a:avLst/>
          </a:prstGeom>
          <a:noFill/>
        </p:spPr>
        <p:txBody>
          <a:bodyPr wrap="square" anchor="ctr" lIns="0" rIns="0" tIns="0" bIns="0">
            <a:noAutofit/>
          </a:bodyPr>
          <a:lstStyle/>
          <a:p>
            <a:pPr algn="l">
              <a:lnSpc>
                <a:spcPct val="105000"/>
              </a:lnSpc>
              <a:spcBef>
                <a:spcPts val="0"/>
              </a:spcBef>
              <a:spcAft>
                <a:spcPts val="0"/>
              </a:spcAft>
            </a:pPr>
            <a:r>
              <a:rPr sz="1400" b="1" i="0">
                <a:solidFill>
                  <a:srgbClr val="FFFFFF"/>
                </a:solidFill>
                <a:latin typeface="Cambria"/>
              </a:rPr>
              <a:t>Le mobile money a déjà atteint les 117 communes : il reste à y amener l’agence financière, un réseau mesuré et une data abordable.</a:t>
            </a:r>
          </a:p>
        </p:txBody>
      </p:sp>
      <p:sp>
        <p:nvSpPr>
          <p:cNvPr id="39" name="TextBox 38"/>
          <p:cNvSpPr txBox="1"/>
          <p:nvPr/>
        </p:nvSpPr>
        <p:spPr>
          <a:xfrm>
            <a:off x="502920" y="6446520"/>
            <a:ext cx="7680960" cy="219456"/>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55534E"/>
                </a:solidFill>
                <a:latin typeface="Calibri"/>
              </a:rPr>
              <a:t>Données : portail national de données ouvertes du Togo, recensement de 2022 et sources institutionnelles complémentaires.</a:t>
            </a:r>
          </a:p>
        </p:txBody>
      </p:sp>
      <p:sp>
        <p:nvSpPr>
          <p:cNvPr id="40" name="TextBox 39"/>
          <p:cNvSpPr txBox="1"/>
          <p:nvPr/>
        </p:nvSpPr>
        <p:spPr>
          <a:xfrm>
            <a:off x="8214055" y="6446520"/>
            <a:ext cx="3474720" cy="219456"/>
          </a:xfrm>
          <a:prstGeom prst="rect">
            <a:avLst/>
          </a:prstGeom>
          <a:noFill/>
        </p:spPr>
        <p:txBody>
          <a:bodyPr wrap="square" anchor="t" lIns="0" rIns="0" tIns="0" bIns="0">
            <a:noAutofit/>
          </a:bodyPr>
          <a:lstStyle/>
          <a:p>
            <a:pPr algn="r">
              <a:lnSpc>
                <a:spcPct val="100000"/>
              </a:lnSpc>
              <a:spcBef>
                <a:spcPts val="0"/>
              </a:spcBef>
              <a:spcAft>
                <a:spcPts val="0"/>
              </a:spcAft>
            </a:pPr>
            <a:r>
              <a:rPr sz="850" b="0" i="0">
                <a:solidFill>
                  <a:srgbClr val="55534E"/>
                </a:solidFill>
                <a:latin typeface="Calibri"/>
              </a:rPr>
              <a:t>Togo AI Lab — Data Challenge | Économie numérique — Défi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